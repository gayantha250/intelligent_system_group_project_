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C257CF-8ED9-F8E9-8E7C-C6A1BBAC3586}" v="96" dt="2025-10-15T11:28:08.689"/>
    <p1510:client id="{74BE93E2-CB97-350E-30CA-317D942E1F3B}" v="10" dt="2025-10-14T12:07:19.989"/>
    <p1510:client id="{952EF88F-4116-97A5-4962-1230BBCC7DA2}" v="178" dt="2025-10-14T09:32:46.859"/>
    <p1510:client id="{A61D329E-F635-F544-B702-D2E6BAF2BA0F}" v="635" dt="2025-10-15T09:04:55.6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p:restoredTop sz="83082" autoAdjust="0"/>
  </p:normalViewPr>
  <p:slideViewPr>
    <p:cSldViewPr snapToGrid="0">
      <p:cViewPr varScale="1">
        <p:scale>
          <a:sx n="68" d="100"/>
          <a:sy n="68" d="100"/>
        </p:scale>
        <p:origin x="117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21334-BA66-DB40-BAF6-2B22C7723DD9}" type="datetimeFigureOut">
              <a:rPr lang="en-DE" smtClean="0"/>
              <a:t>20/10/2026</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A0CC56-9DE8-D644-BF20-88B4C0DB7302}" type="slidenum">
              <a:rPr lang="en-DE" smtClean="0"/>
              <a:t>‹#›</a:t>
            </a:fld>
            <a:endParaRPr lang="en-DE"/>
          </a:p>
        </p:txBody>
      </p:sp>
    </p:spTree>
    <p:extLst>
      <p:ext uri="{BB962C8B-B14F-4D97-AF65-F5344CB8AC3E}">
        <p14:creationId xmlns:p14="http://schemas.microsoft.com/office/powerpoint/2010/main" val="431100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CF021-9AC3-A873-381C-DBFC05B199F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DE"/>
          </a:p>
        </p:txBody>
      </p:sp>
      <p:sp>
        <p:nvSpPr>
          <p:cNvPr id="3" name="Subtitle 2">
            <a:extLst>
              <a:ext uri="{FF2B5EF4-FFF2-40B4-BE49-F238E27FC236}">
                <a16:creationId xmlns:a16="http://schemas.microsoft.com/office/drawing/2014/main" id="{0AB4D7EC-6994-957D-2A01-DCB87CCF3D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DE"/>
          </a:p>
        </p:txBody>
      </p:sp>
      <p:sp>
        <p:nvSpPr>
          <p:cNvPr id="4" name="Date Placeholder 3">
            <a:extLst>
              <a:ext uri="{FF2B5EF4-FFF2-40B4-BE49-F238E27FC236}">
                <a16:creationId xmlns:a16="http://schemas.microsoft.com/office/drawing/2014/main" id="{406FD942-DF23-1A44-D504-138F3462D09D}"/>
              </a:ext>
            </a:extLst>
          </p:cNvPr>
          <p:cNvSpPr>
            <a:spLocks noGrp="1"/>
          </p:cNvSpPr>
          <p:nvPr>
            <p:ph type="dt" sz="half" idx="10"/>
          </p:nvPr>
        </p:nvSpPr>
        <p:spPr/>
        <p:txBody>
          <a:bodyPr/>
          <a:lstStyle/>
          <a:p>
            <a:fld id="{EECB69FA-CB31-4225-8774-6201BA3B2654}" type="datetime1">
              <a:rPr lang="en-US" smtClean="0"/>
              <a:t>10/20/2026</a:t>
            </a:fld>
            <a:endParaRPr lang="en-DE"/>
          </a:p>
        </p:txBody>
      </p:sp>
      <p:sp>
        <p:nvSpPr>
          <p:cNvPr id="5" name="Footer Placeholder 4">
            <a:extLst>
              <a:ext uri="{FF2B5EF4-FFF2-40B4-BE49-F238E27FC236}">
                <a16:creationId xmlns:a16="http://schemas.microsoft.com/office/drawing/2014/main" id="{6BE6FE0F-0E75-585C-1AF5-83CD09B12C05}"/>
              </a:ext>
            </a:extLst>
          </p:cNvPr>
          <p:cNvSpPr>
            <a:spLocks noGrp="1"/>
          </p:cNvSpPr>
          <p:nvPr>
            <p:ph type="ftr" sz="quarter" idx="11"/>
          </p:nvPr>
        </p:nvSpPr>
        <p:spPr/>
        <p:txBody>
          <a:bodyPr/>
          <a:lstStyle/>
          <a:p>
            <a:r>
              <a:rPr lang="en-US"/>
              <a:t>Case Study Integration and Comparison of vision models for smart inspection cell </a:t>
            </a:r>
            <a:endParaRPr lang="en-DE"/>
          </a:p>
        </p:txBody>
      </p:sp>
      <p:sp>
        <p:nvSpPr>
          <p:cNvPr id="6" name="Slide Number Placeholder 5">
            <a:extLst>
              <a:ext uri="{FF2B5EF4-FFF2-40B4-BE49-F238E27FC236}">
                <a16:creationId xmlns:a16="http://schemas.microsoft.com/office/drawing/2014/main" id="{7700C001-62E2-3BC7-6DFF-B928C21145DA}"/>
              </a:ext>
            </a:extLst>
          </p:cNvPr>
          <p:cNvSpPr>
            <a:spLocks noGrp="1"/>
          </p:cNvSpPr>
          <p:nvPr>
            <p:ph type="sldNum" sz="quarter" idx="12"/>
          </p:nvPr>
        </p:nvSpPr>
        <p:spPr/>
        <p:txBody>
          <a:bodyPr/>
          <a:lstStyle/>
          <a:p>
            <a:fld id="{0FABFBA2-1CB6-1F4E-9BB3-885A90BDAFD4}" type="slidenum">
              <a:rPr lang="en-DE" smtClean="0"/>
              <a:t>‹#›</a:t>
            </a:fld>
            <a:endParaRPr lang="en-DE"/>
          </a:p>
        </p:txBody>
      </p:sp>
    </p:spTree>
    <p:extLst>
      <p:ext uri="{BB962C8B-B14F-4D97-AF65-F5344CB8AC3E}">
        <p14:creationId xmlns:p14="http://schemas.microsoft.com/office/powerpoint/2010/main" val="2104913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DFA60-504B-B09D-6E7C-2CE95DBAEC6B}"/>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9D734484-0429-5854-48E9-018D347D144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0D4237F0-A7BE-6F98-DEEE-1C1C77E75EB8}"/>
              </a:ext>
            </a:extLst>
          </p:cNvPr>
          <p:cNvSpPr>
            <a:spLocks noGrp="1"/>
          </p:cNvSpPr>
          <p:nvPr>
            <p:ph type="dt" sz="half" idx="10"/>
          </p:nvPr>
        </p:nvSpPr>
        <p:spPr/>
        <p:txBody>
          <a:bodyPr/>
          <a:lstStyle/>
          <a:p>
            <a:fld id="{A01736C7-67DF-4B04-A94D-56841F34FA11}" type="datetime1">
              <a:rPr lang="en-US" smtClean="0"/>
              <a:t>10/20/2026</a:t>
            </a:fld>
            <a:endParaRPr lang="en-DE"/>
          </a:p>
        </p:txBody>
      </p:sp>
      <p:sp>
        <p:nvSpPr>
          <p:cNvPr id="5" name="Footer Placeholder 4">
            <a:extLst>
              <a:ext uri="{FF2B5EF4-FFF2-40B4-BE49-F238E27FC236}">
                <a16:creationId xmlns:a16="http://schemas.microsoft.com/office/drawing/2014/main" id="{C0B5E9CA-47A3-F710-09B6-830B38448D2D}"/>
              </a:ext>
            </a:extLst>
          </p:cNvPr>
          <p:cNvSpPr>
            <a:spLocks noGrp="1"/>
          </p:cNvSpPr>
          <p:nvPr>
            <p:ph type="ftr" sz="quarter" idx="11"/>
          </p:nvPr>
        </p:nvSpPr>
        <p:spPr/>
        <p:txBody>
          <a:bodyPr/>
          <a:lstStyle/>
          <a:p>
            <a:r>
              <a:rPr lang="en-US"/>
              <a:t>Case Study Integration and Comparison of vision models for smart inspection cell </a:t>
            </a:r>
            <a:endParaRPr lang="en-DE"/>
          </a:p>
        </p:txBody>
      </p:sp>
      <p:sp>
        <p:nvSpPr>
          <p:cNvPr id="6" name="Slide Number Placeholder 5">
            <a:extLst>
              <a:ext uri="{FF2B5EF4-FFF2-40B4-BE49-F238E27FC236}">
                <a16:creationId xmlns:a16="http://schemas.microsoft.com/office/drawing/2014/main" id="{ADC71812-C4F9-6696-CCAD-83F0CE2104D2}"/>
              </a:ext>
            </a:extLst>
          </p:cNvPr>
          <p:cNvSpPr>
            <a:spLocks noGrp="1"/>
          </p:cNvSpPr>
          <p:nvPr>
            <p:ph type="sldNum" sz="quarter" idx="12"/>
          </p:nvPr>
        </p:nvSpPr>
        <p:spPr/>
        <p:txBody>
          <a:bodyPr/>
          <a:lstStyle/>
          <a:p>
            <a:fld id="{0FABFBA2-1CB6-1F4E-9BB3-885A90BDAFD4}" type="slidenum">
              <a:rPr lang="en-DE" smtClean="0"/>
              <a:t>‹#›</a:t>
            </a:fld>
            <a:endParaRPr lang="en-DE"/>
          </a:p>
        </p:txBody>
      </p:sp>
    </p:spTree>
    <p:extLst>
      <p:ext uri="{BB962C8B-B14F-4D97-AF65-F5344CB8AC3E}">
        <p14:creationId xmlns:p14="http://schemas.microsoft.com/office/powerpoint/2010/main" val="3263727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BAB00-9207-B88D-5557-1884728BB73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DE"/>
          </a:p>
        </p:txBody>
      </p:sp>
      <p:sp>
        <p:nvSpPr>
          <p:cNvPr id="3" name="Text Placeholder 2">
            <a:extLst>
              <a:ext uri="{FF2B5EF4-FFF2-40B4-BE49-F238E27FC236}">
                <a16:creationId xmlns:a16="http://schemas.microsoft.com/office/drawing/2014/main" id="{70B89B0A-B9F2-1ADA-F387-6EFFA66917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3E4DD4B-D839-37D2-7096-1A4BDEA5191D}"/>
              </a:ext>
            </a:extLst>
          </p:cNvPr>
          <p:cNvSpPr>
            <a:spLocks noGrp="1"/>
          </p:cNvSpPr>
          <p:nvPr>
            <p:ph type="dt" sz="half" idx="10"/>
          </p:nvPr>
        </p:nvSpPr>
        <p:spPr/>
        <p:txBody>
          <a:bodyPr/>
          <a:lstStyle/>
          <a:p>
            <a:fld id="{FA3DF760-44DB-4C6C-B540-17589643C014}" type="datetime1">
              <a:rPr lang="en-US" smtClean="0"/>
              <a:t>10/20/2026</a:t>
            </a:fld>
            <a:endParaRPr lang="en-DE"/>
          </a:p>
        </p:txBody>
      </p:sp>
      <p:sp>
        <p:nvSpPr>
          <p:cNvPr id="5" name="Footer Placeholder 4">
            <a:extLst>
              <a:ext uri="{FF2B5EF4-FFF2-40B4-BE49-F238E27FC236}">
                <a16:creationId xmlns:a16="http://schemas.microsoft.com/office/drawing/2014/main" id="{59281A67-B777-D9B2-BA1B-DBBEE6696B58}"/>
              </a:ext>
            </a:extLst>
          </p:cNvPr>
          <p:cNvSpPr>
            <a:spLocks noGrp="1"/>
          </p:cNvSpPr>
          <p:nvPr>
            <p:ph type="ftr" sz="quarter" idx="11"/>
          </p:nvPr>
        </p:nvSpPr>
        <p:spPr/>
        <p:txBody>
          <a:bodyPr/>
          <a:lstStyle/>
          <a:p>
            <a:r>
              <a:rPr lang="en-US"/>
              <a:t>Case Study Integration and Comparison of vision models for smart inspection cell </a:t>
            </a:r>
            <a:endParaRPr lang="en-DE"/>
          </a:p>
        </p:txBody>
      </p:sp>
      <p:sp>
        <p:nvSpPr>
          <p:cNvPr id="6" name="Slide Number Placeholder 5">
            <a:extLst>
              <a:ext uri="{FF2B5EF4-FFF2-40B4-BE49-F238E27FC236}">
                <a16:creationId xmlns:a16="http://schemas.microsoft.com/office/drawing/2014/main" id="{8D3F9D5E-560E-F104-0805-81B4BE500536}"/>
              </a:ext>
            </a:extLst>
          </p:cNvPr>
          <p:cNvSpPr>
            <a:spLocks noGrp="1"/>
          </p:cNvSpPr>
          <p:nvPr>
            <p:ph type="sldNum" sz="quarter" idx="12"/>
          </p:nvPr>
        </p:nvSpPr>
        <p:spPr/>
        <p:txBody>
          <a:bodyPr/>
          <a:lstStyle/>
          <a:p>
            <a:fld id="{0FABFBA2-1CB6-1F4E-9BB3-885A90BDAFD4}" type="slidenum">
              <a:rPr lang="en-DE" smtClean="0"/>
              <a:t>‹#›</a:t>
            </a:fld>
            <a:endParaRPr lang="en-DE"/>
          </a:p>
        </p:txBody>
      </p:sp>
    </p:spTree>
    <p:extLst>
      <p:ext uri="{BB962C8B-B14F-4D97-AF65-F5344CB8AC3E}">
        <p14:creationId xmlns:p14="http://schemas.microsoft.com/office/powerpoint/2010/main" val="2155363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A143A-560A-8222-4C1C-83F8A3059FF7}"/>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6B491511-E66D-F6DD-12D6-A55C02181E1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Content Placeholder 3">
            <a:extLst>
              <a:ext uri="{FF2B5EF4-FFF2-40B4-BE49-F238E27FC236}">
                <a16:creationId xmlns:a16="http://schemas.microsoft.com/office/drawing/2014/main" id="{875B5F0B-EC5E-DEF8-361B-12ABE25CC4D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Date Placeholder 4">
            <a:extLst>
              <a:ext uri="{FF2B5EF4-FFF2-40B4-BE49-F238E27FC236}">
                <a16:creationId xmlns:a16="http://schemas.microsoft.com/office/drawing/2014/main" id="{BBB34199-0951-4AC9-FFD9-A4F55FE6B9CC}"/>
              </a:ext>
            </a:extLst>
          </p:cNvPr>
          <p:cNvSpPr>
            <a:spLocks noGrp="1"/>
          </p:cNvSpPr>
          <p:nvPr>
            <p:ph type="dt" sz="half" idx="10"/>
          </p:nvPr>
        </p:nvSpPr>
        <p:spPr/>
        <p:txBody>
          <a:bodyPr/>
          <a:lstStyle/>
          <a:p>
            <a:fld id="{45069799-BFC0-42F4-AFE1-0D176C544888}" type="datetime1">
              <a:rPr lang="en-US" smtClean="0"/>
              <a:t>10/20/2026</a:t>
            </a:fld>
            <a:endParaRPr lang="en-DE"/>
          </a:p>
        </p:txBody>
      </p:sp>
      <p:sp>
        <p:nvSpPr>
          <p:cNvPr id="6" name="Footer Placeholder 5">
            <a:extLst>
              <a:ext uri="{FF2B5EF4-FFF2-40B4-BE49-F238E27FC236}">
                <a16:creationId xmlns:a16="http://schemas.microsoft.com/office/drawing/2014/main" id="{0BD08F80-FC68-6E9C-D814-00AFB72AA404}"/>
              </a:ext>
            </a:extLst>
          </p:cNvPr>
          <p:cNvSpPr>
            <a:spLocks noGrp="1"/>
          </p:cNvSpPr>
          <p:nvPr>
            <p:ph type="ftr" sz="quarter" idx="11"/>
          </p:nvPr>
        </p:nvSpPr>
        <p:spPr/>
        <p:txBody>
          <a:bodyPr/>
          <a:lstStyle/>
          <a:p>
            <a:r>
              <a:rPr lang="en-US"/>
              <a:t>Case Study Integration and Comparison of vision models for smart inspection cell </a:t>
            </a:r>
            <a:endParaRPr lang="en-DE"/>
          </a:p>
        </p:txBody>
      </p:sp>
      <p:sp>
        <p:nvSpPr>
          <p:cNvPr id="7" name="Slide Number Placeholder 6">
            <a:extLst>
              <a:ext uri="{FF2B5EF4-FFF2-40B4-BE49-F238E27FC236}">
                <a16:creationId xmlns:a16="http://schemas.microsoft.com/office/drawing/2014/main" id="{B22C4074-035A-B3F6-B6F3-CC327C7BAD99}"/>
              </a:ext>
            </a:extLst>
          </p:cNvPr>
          <p:cNvSpPr>
            <a:spLocks noGrp="1"/>
          </p:cNvSpPr>
          <p:nvPr>
            <p:ph type="sldNum" sz="quarter" idx="12"/>
          </p:nvPr>
        </p:nvSpPr>
        <p:spPr/>
        <p:txBody>
          <a:bodyPr/>
          <a:lstStyle/>
          <a:p>
            <a:fld id="{0FABFBA2-1CB6-1F4E-9BB3-885A90BDAFD4}" type="slidenum">
              <a:rPr lang="en-DE" smtClean="0"/>
              <a:t>‹#›</a:t>
            </a:fld>
            <a:endParaRPr lang="en-DE"/>
          </a:p>
        </p:txBody>
      </p:sp>
    </p:spTree>
    <p:extLst>
      <p:ext uri="{BB962C8B-B14F-4D97-AF65-F5344CB8AC3E}">
        <p14:creationId xmlns:p14="http://schemas.microsoft.com/office/powerpoint/2010/main" val="3517298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055A6-0864-D91F-A040-ADEF82848CED}"/>
              </a:ext>
            </a:extLst>
          </p:cNvPr>
          <p:cNvSpPr>
            <a:spLocks noGrp="1"/>
          </p:cNvSpPr>
          <p:nvPr>
            <p:ph type="title"/>
          </p:nvPr>
        </p:nvSpPr>
        <p:spPr>
          <a:xfrm>
            <a:off x="839788" y="365125"/>
            <a:ext cx="10515600" cy="1325563"/>
          </a:xfrm>
        </p:spPr>
        <p:txBody>
          <a:bodyPr/>
          <a:lstStyle/>
          <a:p>
            <a:r>
              <a:rPr lang="en-GB"/>
              <a:t>Click to edit Master title style</a:t>
            </a:r>
            <a:endParaRPr lang="en-DE"/>
          </a:p>
        </p:txBody>
      </p:sp>
      <p:sp>
        <p:nvSpPr>
          <p:cNvPr id="3" name="Text Placeholder 2">
            <a:extLst>
              <a:ext uri="{FF2B5EF4-FFF2-40B4-BE49-F238E27FC236}">
                <a16:creationId xmlns:a16="http://schemas.microsoft.com/office/drawing/2014/main" id="{C7B24FD7-BF98-7C3E-4735-0CCDC1E89C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C9B93A5-41BB-151F-F955-CDC06226C5F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Text Placeholder 4">
            <a:extLst>
              <a:ext uri="{FF2B5EF4-FFF2-40B4-BE49-F238E27FC236}">
                <a16:creationId xmlns:a16="http://schemas.microsoft.com/office/drawing/2014/main" id="{792B36DC-B91C-50C2-84BA-FC757DDF2E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4BE8B91-83E8-2A21-0A2E-4F520384B6A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7" name="Date Placeholder 6">
            <a:extLst>
              <a:ext uri="{FF2B5EF4-FFF2-40B4-BE49-F238E27FC236}">
                <a16:creationId xmlns:a16="http://schemas.microsoft.com/office/drawing/2014/main" id="{72989513-021B-5B5F-2AB4-7A830D93EA93}"/>
              </a:ext>
            </a:extLst>
          </p:cNvPr>
          <p:cNvSpPr>
            <a:spLocks noGrp="1"/>
          </p:cNvSpPr>
          <p:nvPr>
            <p:ph type="dt" sz="half" idx="10"/>
          </p:nvPr>
        </p:nvSpPr>
        <p:spPr/>
        <p:txBody>
          <a:bodyPr/>
          <a:lstStyle/>
          <a:p>
            <a:fld id="{4C3BB2E0-D036-4586-BA61-E1F0645B7038}" type="datetime1">
              <a:rPr lang="en-US" smtClean="0"/>
              <a:t>10/20/2026</a:t>
            </a:fld>
            <a:endParaRPr lang="en-DE"/>
          </a:p>
        </p:txBody>
      </p:sp>
      <p:sp>
        <p:nvSpPr>
          <p:cNvPr id="8" name="Footer Placeholder 7">
            <a:extLst>
              <a:ext uri="{FF2B5EF4-FFF2-40B4-BE49-F238E27FC236}">
                <a16:creationId xmlns:a16="http://schemas.microsoft.com/office/drawing/2014/main" id="{7842DEEC-C9D9-6284-D428-F233CA1688CD}"/>
              </a:ext>
            </a:extLst>
          </p:cNvPr>
          <p:cNvSpPr>
            <a:spLocks noGrp="1"/>
          </p:cNvSpPr>
          <p:nvPr>
            <p:ph type="ftr" sz="quarter" idx="11"/>
          </p:nvPr>
        </p:nvSpPr>
        <p:spPr/>
        <p:txBody>
          <a:bodyPr/>
          <a:lstStyle/>
          <a:p>
            <a:r>
              <a:rPr lang="en-US"/>
              <a:t>Case Study Integration and Comparison of vision models for smart inspection cell </a:t>
            </a:r>
            <a:endParaRPr lang="en-DE"/>
          </a:p>
        </p:txBody>
      </p:sp>
      <p:sp>
        <p:nvSpPr>
          <p:cNvPr id="9" name="Slide Number Placeholder 8">
            <a:extLst>
              <a:ext uri="{FF2B5EF4-FFF2-40B4-BE49-F238E27FC236}">
                <a16:creationId xmlns:a16="http://schemas.microsoft.com/office/drawing/2014/main" id="{067B4F18-C3A3-895B-8A04-2B7197CD8A5D}"/>
              </a:ext>
            </a:extLst>
          </p:cNvPr>
          <p:cNvSpPr>
            <a:spLocks noGrp="1"/>
          </p:cNvSpPr>
          <p:nvPr>
            <p:ph type="sldNum" sz="quarter" idx="12"/>
          </p:nvPr>
        </p:nvSpPr>
        <p:spPr/>
        <p:txBody>
          <a:bodyPr/>
          <a:lstStyle/>
          <a:p>
            <a:fld id="{0FABFBA2-1CB6-1F4E-9BB3-885A90BDAFD4}" type="slidenum">
              <a:rPr lang="en-DE" smtClean="0"/>
              <a:t>‹#›</a:t>
            </a:fld>
            <a:endParaRPr lang="en-DE"/>
          </a:p>
        </p:txBody>
      </p:sp>
    </p:spTree>
    <p:extLst>
      <p:ext uri="{BB962C8B-B14F-4D97-AF65-F5344CB8AC3E}">
        <p14:creationId xmlns:p14="http://schemas.microsoft.com/office/powerpoint/2010/main" val="1409929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03C5-78C3-4B87-31A8-6B5ED20DC5AF}"/>
              </a:ext>
            </a:extLst>
          </p:cNvPr>
          <p:cNvSpPr>
            <a:spLocks noGrp="1"/>
          </p:cNvSpPr>
          <p:nvPr>
            <p:ph type="title"/>
          </p:nvPr>
        </p:nvSpPr>
        <p:spPr/>
        <p:txBody>
          <a:bodyPr/>
          <a:lstStyle/>
          <a:p>
            <a:r>
              <a:rPr lang="en-GB"/>
              <a:t>Click to edit Master title style</a:t>
            </a:r>
            <a:endParaRPr lang="en-DE"/>
          </a:p>
        </p:txBody>
      </p:sp>
      <p:sp>
        <p:nvSpPr>
          <p:cNvPr id="3" name="Date Placeholder 2">
            <a:extLst>
              <a:ext uri="{FF2B5EF4-FFF2-40B4-BE49-F238E27FC236}">
                <a16:creationId xmlns:a16="http://schemas.microsoft.com/office/drawing/2014/main" id="{92FB6E1A-2FE3-FA81-59E7-30D1B74D2A52}"/>
              </a:ext>
            </a:extLst>
          </p:cNvPr>
          <p:cNvSpPr>
            <a:spLocks noGrp="1"/>
          </p:cNvSpPr>
          <p:nvPr>
            <p:ph type="dt" sz="half" idx="10"/>
          </p:nvPr>
        </p:nvSpPr>
        <p:spPr/>
        <p:txBody>
          <a:bodyPr/>
          <a:lstStyle/>
          <a:p>
            <a:fld id="{87A6FBF3-05C0-4410-97F4-1F241ADD1A85}" type="datetime1">
              <a:rPr lang="en-US" smtClean="0"/>
              <a:t>10/20/2026</a:t>
            </a:fld>
            <a:endParaRPr lang="en-DE"/>
          </a:p>
        </p:txBody>
      </p:sp>
      <p:sp>
        <p:nvSpPr>
          <p:cNvPr id="4" name="Footer Placeholder 3">
            <a:extLst>
              <a:ext uri="{FF2B5EF4-FFF2-40B4-BE49-F238E27FC236}">
                <a16:creationId xmlns:a16="http://schemas.microsoft.com/office/drawing/2014/main" id="{05E7C422-EE22-42BC-A9CF-64D85DBF0C0A}"/>
              </a:ext>
            </a:extLst>
          </p:cNvPr>
          <p:cNvSpPr>
            <a:spLocks noGrp="1"/>
          </p:cNvSpPr>
          <p:nvPr>
            <p:ph type="ftr" sz="quarter" idx="11"/>
          </p:nvPr>
        </p:nvSpPr>
        <p:spPr/>
        <p:txBody>
          <a:bodyPr/>
          <a:lstStyle/>
          <a:p>
            <a:r>
              <a:rPr lang="en-US"/>
              <a:t>Case Study Integration and Comparison of vision models for smart inspection cell </a:t>
            </a:r>
            <a:endParaRPr lang="en-DE"/>
          </a:p>
        </p:txBody>
      </p:sp>
      <p:sp>
        <p:nvSpPr>
          <p:cNvPr id="5" name="Slide Number Placeholder 4">
            <a:extLst>
              <a:ext uri="{FF2B5EF4-FFF2-40B4-BE49-F238E27FC236}">
                <a16:creationId xmlns:a16="http://schemas.microsoft.com/office/drawing/2014/main" id="{19E83996-3544-F68A-D3F7-6C91AD12A9F8}"/>
              </a:ext>
            </a:extLst>
          </p:cNvPr>
          <p:cNvSpPr>
            <a:spLocks noGrp="1"/>
          </p:cNvSpPr>
          <p:nvPr>
            <p:ph type="sldNum" sz="quarter" idx="12"/>
          </p:nvPr>
        </p:nvSpPr>
        <p:spPr/>
        <p:txBody>
          <a:bodyPr/>
          <a:lstStyle/>
          <a:p>
            <a:fld id="{0FABFBA2-1CB6-1F4E-9BB3-885A90BDAFD4}" type="slidenum">
              <a:rPr lang="en-DE" smtClean="0"/>
              <a:t>‹#›</a:t>
            </a:fld>
            <a:endParaRPr lang="en-DE"/>
          </a:p>
        </p:txBody>
      </p:sp>
    </p:spTree>
    <p:extLst>
      <p:ext uri="{BB962C8B-B14F-4D97-AF65-F5344CB8AC3E}">
        <p14:creationId xmlns:p14="http://schemas.microsoft.com/office/powerpoint/2010/main" val="317372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F77BB8-964E-F819-2378-F0F49C8709F6}"/>
              </a:ext>
            </a:extLst>
          </p:cNvPr>
          <p:cNvSpPr>
            <a:spLocks noGrp="1"/>
          </p:cNvSpPr>
          <p:nvPr>
            <p:ph type="dt" sz="half" idx="10"/>
          </p:nvPr>
        </p:nvSpPr>
        <p:spPr/>
        <p:txBody>
          <a:bodyPr/>
          <a:lstStyle/>
          <a:p>
            <a:fld id="{61E4B69B-925F-406A-BB2E-3A95A65DA62D}" type="datetime1">
              <a:rPr lang="en-US" smtClean="0"/>
              <a:t>10/20/2026</a:t>
            </a:fld>
            <a:endParaRPr lang="en-DE"/>
          </a:p>
        </p:txBody>
      </p:sp>
      <p:sp>
        <p:nvSpPr>
          <p:cNvPr id="3" name="Footer Placeholder 2">
            <a:extLst>
              <a:ext uri="{FF2B5EF4-FFF2-40B4-BE49-F238E27FC236}">
                <a16:creationId xmlns:a16="http://schemas.microsoft.com/office/drawing/2014/main" id="{1705B863-7262-5B41-6721-635E041164DC}"/>
              </a:ext>
            </a:extLst>
          </p:cNvPr>
          <p:cNvSpPr>
            <a:spLocks noGrp="1"/>
          </p:cNvSpPr>
          <p:nvPr>
            <p:ph type="ftr" sz="quarter" idx="11"/>
          </p:nvPr>
        </p:nvSpPr>
        <p:spPr/>
        <p:txBody>
          <a:bodyPr/>
          <a:lstStyle/>
          <a:p>
            <a:r>
              <a:rPr lang="en-US"/>
              <a:t>Case Study Integration and Comparison of vision models for smart inspection cell </a:t>
            </a:r>
            <a:endParaRPr lang="en-DE"/>
          </a:p>
        </p:txBody>
      </p:sp>
      <p:sp>
        <p:nvSpPr>
          <p:cNvPr id="4" name="Slide Number Placeholder 3">
            <a:extLst>
              <a:ext uri="{FF2B5EF4-FFF2-40B4-BE49-F238E27FC236}">
                <a16:creationId xmlns:a16="http://schemas.microsoft.com/office/drawing/2014/main" id="{A4799EC5-7ACA-0E4A-052C-54CF19D3B071}"/>
              </a:ext>
            </a:extLst>
          </p:cNvPr>
          <p:cNvSpPr>
            <a:spLocks noGrp="1"/>
          </p:cNvSpPr>
          <p:nvPr>
            <p:ph type="sldNum" sz="quarter" idx="12"/>
          </p:nvPr>
        </p:nvSpPr>
        <p:spPr/>
        <p:txBody>
          <a:bodyPr/>
          <a:lstStyle/>
          <a:p>
            <a:fld id="{0FABFBA2-1CB6-1F4E-9BB3-885A90BDAFD4}" type="slidenum">
              <a:rPr lang="en-DE" smtClean="0"/>
              <a:t>‹#›</a:t>
            </a:fld>
            <a:endParaRPr lang="en-DE"/>
          </a:p>
        </p:txBody>
      </p:sp>
    </p:spTree>
    <p:extLst>
      <p:ext uri="{BB962C8B-B14F-4D97-AF65-F5344CB8AC3E}">
        <p14:creationId xmlns:p14="http://schemas.microsoft.com/office/powerpoint/2010/main" val="1205004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29544-9012-6916-7216-1E606F48AC3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Content Placeholder 2">
            <a:extLst>
              <a:ext uri="{FF2B5EF4-FFF2-40B4-BE49-F238E27FC236}">
                <a16:creationId xmlns:a16="http://schemas.microsoft.com/office/drawing/2014/main" id="{1FCFD2A6-81DE-F306-A979-72AAC62919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Text Placeholder 3">
            <a:extLst>
              <a:ext uri="{FF2B5EF4-FFF2-40B4-BE49-F238E27FC236}">
                <a16:creationId xmlns:a16="http://schemas.microsoft.com/office/drawing/2014/main" id="{411ED4FB-2779-E553-48F4-CCBA603F0C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7B28CB4-E490-03ED-6DB7-05D10D6DA292}"/>
              </a:ext>
            </a:extLst>
          </p:cNvPr>
          <p:cNvSpPr>
            <a:spLocks noGrp="1"/>
          </p:cNvSpPr>
          <p:nvPr>
            <p:ph type="dt" sz="half" idx="10"/>
          </p:nvPr>
        </p:nvSpPr>
        <p:spPr/>
        <p:txBody>
          <a:bodyPr/>
          <a:lstStyle/>
          <a:p>
            <a:fld id="{BCAF6A95-D498-467B-842C-6A1180EBCC0A}" type="datetime1">
              <a:rPr lang="en-US" smtClean="0"/>
              <a:t>10/20/2026</a:t>
            </a:fld>
            <a:endParaRPr lang="en-DE"/>
          </a:p>
        </p:txBody>
      </p:sp>
      <p:sp>
        <p:nvSpPr>
          <p:cNvPr id="6" name="Footer Placeholder 5">
            <a:extLst>
              <a:ext uri="{FF2B5EF4-FFF2-40B4-BE49-F238E27FC236}">
                <a16:creationId xmlns:a16="http://schemas.microsoft.com/office/drawing/2014/main" id="{32620B77-B289-F0F8-426E-50F17A1FD740}"/>
              </a:ext>
            </a:extLst>
          </p:cNvPr>
          <p:cNvSpPr>
            <a:spLocks noGrp="1"/>
          </p:cNvSpPr>
          <p:nvPr>
            <p:ph type="ftr" sz="quarter" idx="11"/>
          </p:nvPr>
        </p:nvSpPr>
        <p:spPr/>
        <p:txBody>
          <a:bodyPr/>
          <a:lstStyle/>
          <a:p>
            <a:r>
              <a:rPr lang="en-US"/>
              <a:t>Case Study Integration and Comparison of vision models for smart inspection cell </a:t>
            </a:r>
            <a:endParaRPr lang="en-DE"/>
          </a:p>
        </p:txBody>
      </p:sp>
      <p:sp>
        <p:nvSpPr>
          <p:cNvPr id="7" name="Slide Number Placeholder 6">
            <a:extLst>
              <a:ext uri="{FF2B5EF4-FFF2-40B4-BE49-F238E27FC236}">
                <a16:creationId xmlns:a16="http://schemas.microsoft.com/office/drawing/2014/main" id="{F7451D3E-8F02-F982-64A3-82A8914FA04F}"/>
              </a:ext>
            </a:extLst>
          </p:cNvPr>
          <p:cNvSpPr>
            <a:spLocks noGrp="1"/>
          </p:cNvSpPr>
          <p:nvPr>
            <p:ph type="sldNum" sz="quarter" idx="12"/>
          </p:nvPr>
        </p:nvSpPr>
        <p:spPr/>
        <p:txBody>
          <a:bodyPr/>
          <a:lstStyle/>
          <a:p>
            <a:fld id="{0FABFBA2-1CB6-1F4E-9BB3-885A90BDAFD4}" type="slidenum">
              <a:rPr lang="en-DE" smtClean="0"/>
              <a:t>‹#›</a:t>
            </a:fld>
            <a:endParaRPr lang="en-DE"/>
          </a:p>
        </p:txBody>
      </p:sp>
    </p:spTree>
    <p:extLst>
      <p:ext uri="{BB962C8B-B14F-4D97-AF65-F5344CB8AC3E}">
        <p14:creationId xmlns:p14="http://schemas.microsoft.com/office/powerpoint/2010/main" val="937379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4F2A5-14F0-E216-CBC1-BC3A6BA2FEC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Picture Placeholder 2">
            <a:extLst>
              <a:ext uri="{FF2B5EF4-FFF2-40B4-BE49-F238E27FC236}">
                <a16:creationId xmlns:a16="http://schemas.microsoft.com/office/drawing/2014/main" id="{E6A5A376-47AE-1EB9-9A8A-53F5BBE31A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1BBDCF7B-5473-F74F-8E6A-F7428E2182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C667CAD-A79D-ED34-811D-4D4D686D4B1E}"/>
              </a:ext>
            </a:extLst>
          </p:cNvPr>
          <p:cNvSpPr>
            <a:spLocks noGrp="1"/>
          </p:cNvSpPr>
          <p:nvPr>
            <p:ph type="dt" sz="half" idx="10"/>
          </p:nvPr>
        </p:nvSpPr>
        <p:spPr/>
        <p:txBody>
          <a:bodyPr/>
          <a:lstStyle/>
          <a:p>
            <a:fld id="{D98D1015-35EE-49F2-9BC3-B1261FA7ADDE}" type="datetime1">
              <a:rPr lang="en-US" smtClean="0"/>
              <a:t>10/20/2026</a:t>
            </a:fld>
            <a:endParaRPr lang="en-DE"/>
          </a:p>
        </p:txBody>
      </p:sp>
      <p:sp>
        <p:nvSpPr>
          <p:cNvPr id="6" name="Footer Placeholder 5">
            <a:extLst>
              <a:ext uri="{FF2B5EF4-FFF2-40B4-BE49-F238E27FC236}">
                <a16:creationId xmlns:a16="http://schemas.microsoft.com/office/drawing/2014/main" id="{7EBEA400-CB25-4425-DFCE-825312DA9F31}"/>
              </a:ext>
            </a:extLst>
          </p:cNvPr>
          <p:cNvSpPr>
            <a:spLocks noGrp="1"/>
          </p:cNvSpPr>
          <p:nvPr>
            <p:ph type="ftr" sz="quarter" idx="11"/>
          </p:nvPr>
        </p:nvSpPr>
        <p:spPr/>
        <p:txBody>
          <a:bodyPr/>
          <a:lstStyle/>
          <a:p>
            <a:r>
              <a:rPr lang="en-US"/>
              <a:t>Case Study Integration and Comparison of vision models for smart inspection cell </a:t>
            </a:r>
            <a:endParaRPr lang="en-DE"/>
          </a:p>
        </p:txBody>
      </p:sp>
      <p:sp>
        <p:nvSpPr>
          <p:cNvPr id="7" name="Slide Number Placeholder 6">
            <a:extLst>
              <a:ext uri="{FF2B5EF4-FFF2-40B4-BE49-F238E27FC236}">
                <a16:creationId xmlns:a16="http://schemas.microsoft.com/office/drawing/2014/main" id="{5821745F-9DA2-63B9-14BD-AE1E238F54AE}"/>
              </a:ext>
            </a:extLst>
          </p:cNvPr>
          <p:cNvSpPr>
            <a:spLocks noGrp="1"/>
          </p:cNvSpPr>
          <p:nvPr>
            <p:ph type="sldNum" sz="quarter" idx="12"/>
          </p:nvPr>
        </p:nvSpPr>
        <p:spPr/>
        <p:txBody>
          <a:bodyPr/>
          <a:lstStyle/>
          <a:p>
            <a:fld id="{0FABFBA2-1CB6-1F4E-9BB3-885A90BDAFD4}" type="slidenum">
              <a:rPr lang="en-DE" smtClean="0"/>
              <a:t>‹#›</a:t>
            </a:fld>
            <a:endParaRPr lang="en-DE"/>
          </a:p>
        </p:txBody>
      </p:sp>
    </p:spTree>
    <p:extLst>
      <p:ext uri="{BB962C8B-B14F-4D97-AF65-F5344CB8AC3E}">
        <p14:creationId xmlns:p14="http://schemas.microsoft.com/office/powerpoint/2010/main" val="2109710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F151C-685E-BA32-DCAE-BDFB675FE65B}"/>
              </a:ext>
            </a:extLst>
          </p:cNvPr>
          <p:cNvSpPr>
            <a:spLocks noGrp="1"/>
          </p:cNvSpPr>
          <p:nvPr>
            <p:ph type="title"/>
          </p:nvPr>
        </p:nvSpPr>
        <p:spPr/>
        <p:txBody>
          <a:bodyPr/>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C6DE237A-A308-C300-76A7-C3701B5672B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C16ADC08-2726-85F5-B9B2-51F71E18CD6F}"/>
              </a:ext>
            </a:extLst>
          </p:cNvPr>
          <p:cNvSpPr>
            <a:spLocks noGrp="1"/>
          </p:cNvSpPr>
          <p:nvPr>
            <p:ph type="dt" sz="half" idx="10"/>
          </p:nvPr>
        </p:nvSpPr>
        <p:spPr/>
        <p:txBody>
          <a:bodyPr/>
          <a:lstStyle/>
          <a:p>
            <a:fld id="{86FD8917-A7C1-41B8-BFAE-465241F9C3D4}" type="datetime1">
              <a:rPr lang="en-US" smtClean="0"/>
              <a:t>10/20/2026</a:t>
            </a:fld>
            <a:endParaRPr lang="en-DE"/>
          </a:p>
        </p:txBody>
      </p:sp>
      <p:sp>
        <p:nvSpPr>
          <p:cNvPr id="5" name="Footer Placeholder 4">
            <a:extLst>
              <a:ext uri="{FF2B5EF4-FFF2-40B4-BE49-F238E27FC236}">
                <a16:creationId xmlns:a16="http://schemas.microsoft.com/office/drawing/2014/main" id="{92A535EF-45D9-697A-EF75-7B87801AD471}"/>
              </a:ext>
            </a:extLst>
          </p:cNvPr>
          <p:cNvSpPr>
            <a:spLocks noGrp="1"/>
          </p:cNvSpPr>
          <p:nvPr>
            <p:ph type="ftr" sz="quarter" idx="11"/>
          </p:nvPr>
        </p:nvSpPr>
        <p:spPr/>
        <p:txBody>
          <a:bodyPr/>
          <a:lstStyle/>
          <a:p>
            <a:r>
              <a:rPr lang="en-US"/>
              <a:t>Case Study Integration and Comparison of vision models for smart inspection cell </a:t>
            </a:r>
            <a:endParaRPr lang="en-DE"/>
          </a:p>
        </p:txBody>
      </p:sp>
      <p:sp>
        <p:nvSpPr>
          <p:cNvPr id="6" name="Slide Number Placeholder 5">
            <a:extLst>
              <a:ext uri="{FF2B5EF4-FFF2-40B4-BE49-F238E27FC236}">
                <a16:creationId xmlns:a16="http://schemas.microsoft.com/office/drawing/2014/main" id="{7A23F17E-50FE-78BD-16EC-27BA42F555F6}"/>
              </a:ext>
            </a:extLst>
          </p:cNvPr>
          <p:cNvSpPr>
            <a:spLocks noGrp="1"/>
          </p:cNvSpPr>
          <p:nvPr>
            <p:ph type="sldNum" sz="quarter" idx="12"/>
          </p:nvPr>
        </p:nvSpPr>
        <p:spPr/>
        <p:txBody>
          <a:bodyPr/>
          <a:lstStyle/>
          <a:p>
            <a:fld id="{0FABFBA2-1CB6-1F4E-9BB3-885A90BDAFD4}" type="slidenum">
              <a:rPr lang="en-DE" smtClean="0"/>
              <a:t>‹#›</a:t>
            </a:fld>
            <a:endParaRPr lang="en-DE"/>
          </a:p>
        </p:txBody>
      </p:sp>
    </p:spTree>
    <p:extLst>
      <p:ext uri="{BB962C8B-B14F-4D97-AF65-F5344CB8AC3E}">
        <p14:creationId xmlns:p14="http://schemas.microsoft.com/office/powerpoint/2010/main" val="512562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8D65B6-5E97-8525-5C36-89CB178B94F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C60DDD5C-0FC5-9294-8CF4-AFFD4DA1FF9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CB182AB4-2DDB-0B80-7B18-ACDF3011D479}"/>
              </a:ext>
            </a:extLst>
          </p:cNvPr>
          <p:cNvSpPr>
            <a:spLocks noGrp="1"/>
          </p:cNvSpPr>
          <p:nvPr>
            <p:ph type="dt" sz="half" idx="10"/>
          </p:nvPr>
        </p:nvSpPr>
        <p:spPr/>
        <p:txBody>
          <a:bodyPr/>
          <a:lstStyle/>
          <a:p>
            <a:fld id="{609C972F-C4A1-4882-B997-9AB6AD1D6520}" type="datetime1">
              <a:rPr lang="en-US" smtClean="0"/>
              <a:t>10/20/2026</a:t>
            </a:fld>
            <a:endParaRPr lang="en-DE"/>
          </a:p>
        </p:txBody>
      </p:sp>
      <p:sp>
        <p:nvSpPr>
          <p:cNvPr id="5" name="Footer Placeholder 4">
            <a:extLst>
              <a:ext uri="{FF2B5EF4-FFF2-40B4-BE49-F238E27FC236}">
                <a16:creationId xmlns:a16="http://schemas.microsoft.com/office/drawing/2014/main" id="{9447FB16-C188-3AC8-C546-B306BB25019E}"/>
              </a:ext>
            </a:extLst>
          </p:cNvPr>
          <p:cNvSpPr>
            <a:spLocks noGrp="1"/>
          </p:cNvSpPr>
          <p:nvPr>
            <p:ph type="ftr" sz="quarter" idx="11"/>
          </p:nvPr>
        </p:nvSpPr>
        <p:spPr/>
        <p:txBody>
          <a:bodyPr/>
          <a:lstStyle/>
          <a:p>
            <a:r>
              <a:rPr lang="en-US"/>
              <a:t>Case Study Integration and Comparison of vision models for smart inspection cell </a:t>
            </a:r>
            <a:endParaRPr lang="en-DE"/>
          </a:p>
        </p:txBody>
      </p:sp>
      <p:sp>
        <p:nvSpPr>
          <p:cNvPr id="6" name="Slide Number Placeholder 5">
            <a:extLst>
              <a:ext uri="{FF2B5EF4-FFF2-40B4-BE49-F238E27FC236}">
                <a16:creationId xmlns:a16="http://schemas.microsoft.com/office/drawing/2014/main" id="{EDBA3093-6DA8-3806-CD62-A67FCC32BDBF}"/>
              </a:ext>
            </a:extLst>
          </p:cNvPr>
          <p:cNvSpPr>
            <a:spLocks noGrp="1"/>
          </p:cNvSpPr>
          <p:nvPr>
            <p:ph type="sldNum" sz="quarter" idx="12"/>
          </p:nvPr>
        </p:nvSpPr>
        <p:spPr/>
        <p:txBody>
          <a:bodyPr/>
          <a:lstStyle/>
          <a:p>
            <a:fld id="{0FABFBA2-1CB6-1F4E-9BB3-885A90BDAFD4}" type="slidenum">
              <a:rPr lang="en-DE" smtClean="0"/>
              <a:t>‹#›</a:t>
            </a:fld>
            <a:endParaRPr lang="en-DE"/>
          </a:p>
        </p:txBody>
      </p:sp>
    </p:spTree>
    <p:extLst>
      <p:ext uri="{BB962C8B-B14F-4D97-AF65-F5344CB8AC3E}">
        <p14:creationId xmlns:p14="http://schemas.microsoft.com/office/powerpoint/2010/main" val="2139383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C0B582-E83B-8C6B-62D6-2E4423FAC0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DE"/>
          </a:p>
        </p:txBody>
      </p:sp>
      <p:sp>
        <p:nvSpPr>
          <p:cNvPr id="3" name="Text Placeholder 2">
            <a:extLst>
              <a:ext uri="{FF2B5EF4-FFF2-40B4-BE49-F238E27FC236}">
                <a16:creationId xmlns:a16="http://schemas.microsoft.com/office/drawing/2014/main" id="{75A65E92-A2CD-0EFD-35CD-E030D056CF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E6B45A36-C7D9-600D-038B-5FE45C075C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EBD3CE-29AB-4F97-9A20-DAADF5E3AA7A}" type="datetime1">
              <a:rPr lang="en-US" smtClean="0"/>
              <a:t>10/20/2026</a:t>
            </a:fld>
            <a:endParaRPr lang="en-DE"/>
          </a:p>
        </p:txBody>
      </p:sp>
      <p:sp>
        <p:nvSpPr>
          <p:cNvPr id="5" name="Footer Placeholder 4">
            <a:extLst>
              <a:ext uri="{FF2B5EF4-FFF2-40B4-BE49-F238E27FC236}">
                <a16:creationId xmlns:a16="http://schemas.microsoft.com/office/drawing/2014/main" id="{3AC00AA2-07B6-2B36-266E-95F1C306F7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Case Study Integration and Comparison of vision models for smart inspection cell </a:t>
            </a:r>
            <a:endParaRPr lang="en-DE"/>
          </a:p>
        </p:txBody>
      </p:sp>
      <p:sp>
        <p:nvSpPr>
          <p:cNvPr id="6" name="Slide Number Placeholder 5">
            <a:extLst>
              <a:ext uri="{FF2B5EF4-FFF2-40B4-BE49-F238E27FC236}">
                <a16:creationId xmlns:a16="http://schemas.microsoft.com/office/drawing/2014/main" id="{125FD303-8AD8-26D9-AAD0-BD7982556E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ABFBA2-1CB6-1F4E-9BB3-885A90BDAFD4}" type="slidenum">
              <a:rPr lang="en-DE" smtClean="0"/>
              <a:t>‹#›</a:t>
            </a:fld>
            <a:endParaRPr lang="en-DE"/>
          </a:p>
        </p:txBody>
      </p:sp>
    </p:spTree>
    <p:extLst>
      <p:ext uri="{BB962C8B-B14F-4D97-AF65-F5344CB8AC3E}">
        <p14:creationId xmlns:p14="http://schemas.microsoft.com/office/powerpoint/2010/main" val="3785735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oi.org/10.1145/2939672.2939785"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https://doi.org/10.1145/2934664" TargetMode="External"/><Relationship Id="rId4" Type="http://schemas.openxmlformats.org/officeDocument/2006/relationships/hyperlink" Target="https://www.jmlr.org/papers/v12/pedregosa11a.html" TargetMode="Externa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amansnohith909/sensor-text-fusion-predictive-maintenance.g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Deggendorf Institute of Technology in ...">
            <a:extLst>
              <a:ext uri="{FF2B5EF4-FFF2-40B4-BE49-F238E27FC236}">
                <a16:creationId xmlns:a16="http://schemas.microsoft.com/office/drawing/2014/main" id="{6983791B-5009-1899-A7C8-8539A2CC79A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993" b="23415"/>
          <a:stretch/>
        </p:blipFill>
        <p:spPr bwMode="auto">
          <a:xfrm>
            <a:off x="4495981" y="2121137"/>
            <a:ext cx="3416075" cy="10662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822960" y="365760"/>
            <a:ext cx="10515600" cy="1371600"/>
          </a:xfrm>
        </p:spPr>
        <p:txBody>
          <a:bodyPr/>
          <a:lstStyle/>
          <a:p>
            <a:pPr algn="ctr"/>
            <a:r>
              <a:rPr sz="3800" b="1">
                <a:latin typeface="Times New Roman"/>
                <a:cs typeface="Times New Roman"/>
              </a:rPr>
              <a:t>Sensor–Text Fusion for Predictive Maintenance</a:t>
            </a:r>
          </a:p>
        </p:txBody>
      </p:sp>
      <p:sp>
        <p:nvSpPr>
          <p:cNvPr id="5" name="TextBox 4"/>
          <p:cNvSpPr txBox="1"/>
          <p:nvPr/>
        </p:nvSpPr>
        <p:spPr>
          <a:xfrm>
            <a:off x="650240" y="4535865"/>
            <a:ext cx="4389120" cy="1169551"/>
          </a:xfrm>
          <a:prstGeom prst="rect">
            <a:avLst/>
          </a:prstGeom>
          <a:noFill/>
        </p:spPr>
        <p:txBody>
          <a:bodyPr wrap="square">
            <a:spAutoFit/>
          </a:bodyPr>
          <a:lstStyle/>
          <a:p>
            <a:pPr algn="l">
              <a:spcAft>
                <a:spcPts val="400"/>
              </a:spcAft>
            </a:pPr>
            <a:r>
              <a:rPr sz="1500" b="1" dirty="0">
                <a:latin typeface="Times New Roman"/>
                <a:cs typeface="Times New Roman"/>
              </a:rPr>
              <a:t>Team Members:</a:t>
            </a:r>
            <a:endParaRPr lang="en-US" sz="1500" b="1" dirty="0">
              <a:latin typeface="Times New Roman"/>
              <a:cs typeface="Times New Roman"/>
            </a:endParaRPr>
          </a:p>
          <a:p>
            <a:pPr algn="l">
              <a:spcAft>
                <a:spcPts val="400"/>
              </a:spcAft>
            </a:pPr>
            <a:r>
              <a:rPr lang="en-US" sz="1500" b="1" dirty="0" err="1">
                <a:latin typeface="Times New Roman"/>
                <a:cs typeface="Times New Roman"/>
              </a:rPr>
              <a:t>Vadlakonda</a:t>
            </a:r>
            <a:r>
              <a:rPr lang="en-US" sz="1500" b="1" dirty="0">
                <a:latin typeface="Times New Roman"/>
                <a:cs typeface="Times New Roman"/>
              </a:rPr>
              <a:t> Dhruva Teja</a:t>
            </a:r>
          </a:p>
          <a:p>
            <a:pPr>
              <a:spcAft>
                <a:spcPts val="400"/>
              </a:spcAft>
            </a:pPr>
            <a:r>
              <a:rPr lang="en-US" sz="1500" b="1" dirty="0" err="1">
                <a:latin typeface="Times New Roman"/>
                <a:cs typeface="Times New Roman"/>
              </a:rPr>
              <a:t>Gayantha</a:t>
            </a:r>
            <a:r>
              <a:rPr lang="en-US" sz="1500" b="1" dirty="0">
                <a:latin typeface="Times New Roman"/>
                <a:cs typeface="Times New Roman"/>
              </a:rPr>
              <a:t> </a:t>
            </a:r>
            <a:r>
              <a:rPr lang="en-US" sz="1500" b="1" dirty="0" err="1">
                <a:latin typeface="Times New Roman"/>
                <a:cs typeface="Times New Roman"/>
              </a:rPr>
              <a:t>rukshan</a:t>
            </a:r>
            <a:r>
              <a:rPr lang="en-US" sz="1500" b="1" dirty="0">
                <a:latin typeface="Times New Roman"/>
                <a:cs typeface="Times New Roman"/>
              </a:rPr>
              <a:t> </a:t>
            </a:r>
            <a:r>
              <a:rPr lang="en-US" sz="1500" b="1" dirty="0" err="1">
                <a:latin typeface="Times New Roman"/>
                <a:cs typeface="Times New Roman"/>
              </a:rPr>
              <a:t>kuruppuarachchi</a:t>
            </a:r>
            <a:endParaRPr lang="en-US" sz="1500" b="1" dirty="0">
              <a:latin typeface="Times New Roman"/>
              <a:cs typeface="Times New Roman"/>
            </a:endParaRPr>
          </a:p>
          <a:p>
            <a:pPr>
              <a:spcAft>
                <a:spcPts val="400"/>
              </a:spcAft>
            </a:pPr>
            <a:r>
              <a:rPr lang="en-US" sz="1500" b="1" dirty="0">
                <a:latin typeface="Times New Roman"/>
                <a:cs typeface="Times New Roman"/>
              </a:rPr>
              <a:t>Sudarsi </a:t>
            </a:r>
            <a:r>
              <a:rPr lang="en-US" sz="1500" b="1" dirty="0" err="1">
                <a:latin typeface="Times New Roman"/>
                <a:cs typeface="Times New Roman"/>
              </a:rPr>
              <a:t>Amansnohith</a:t>
            </a:r>
            <a:endParaRPr sz="1500" b="1" dirty="0">
              <a:latin typeface="Times New Roman"/>
              <a:cs typeface="Times New Roman"/>
            </a:endParaRPr>
          </a:p>
        </p:txBody>
      </p:sp>
      <p:sp>
        <p:nvSpPr>
          <p:cNvPr id="6" name="TextBox 5"/>
          <p:cNvSpPr txBox="1"/>
          <p:nvPr/>
        </p:nvSpPr>
        <p:spPr>
          <a:xfrm>
            <a:off x="4480560" y="3931920"/>
            <a:ext cx="3200400" cy="731520"/>
          </a:xfrm>
          <a:prstGeom prst="rect">
            <a:avLst/>
          </a:prstGeom>
          <a:noFill/>
        </p:spPr>
        <p:txBody>
          <a:bodyPr wrap="square">
            <a:spAutoFit/>
          </a:bodyPr>
          <a:lstStyle/>
          <a:p>
            <a:pPr algn="ctr">
              <a:spcAft>
                <a:spcPts val="400"/>
              </a:spcAft>
            </a:pPr>
            <a:r>
              <a:rPr sz="2200" b="1">
                <a:latin typeface="Times New Roman"/>
                <a:cs typeface="Times New Roman"/>
              </a:rPr>
              <a:t>Concept Presentation</a:t>
            </a:r>
          </a:p>
        </p:txBody>
      </p:sp>
      <p:sp>
        <p:nvSpPr>
          <p:cNvPr id="7" name="TextBox 6"/>
          <p:cNvSpPr txBox="1"/>
          <p:nvPr/>
        </p:nvSpPr>
        <p:spPr>
          <a:xfrm>
            <a:off x="9041271" y="5227885"/>
            <a:ext cx="3474720" cy="636072"/>
          </a:xfrm>
          <a:prstGeom prst="rect">
            <a:avLst/>
          </a:prstGeom>
          <a:noFill/>
        </p:spPr>
        <p:txBody>
          <a:bodyPr wrap="square">
            <a:spAutoFit/>
          </a:bodyPr>
          <a:lstStyle/>
          <a:p>
            <a:pPr algn="l">
              <a:spcAft>
                <a:spcPts val="400"/>
              </a:spcAft>
            </a:pPr>
            <a:r>
              <a:rPr sz="1600" b="1" dirty="0">
                <a:latin typeface="Times New Roman"/>
                <a:cs typeface="Times New Roman"/>
              </a:rPr>
              <a:t>Guided by:</a:t>
            </a:r>
          </a:p>
          <a:p>
            <a:pPr>
              <a:spcAft>
                <a:spcPts val="400"/>
              </a:spcAft>
            </a:pPr>
            <a:r>
              <a:rPr lang="en-US" sz="1600" b="1" i="1" dirty="0">
                <a:latin typeface="Times New Roman" panose="02020603050405020304" pitchFamily="18" charset="0"/>
                <a:cs typeface="Times New Roman" panose="02020603050405020304" pitchFamily="18" charset="0"/>
              </a:rPr>
              <a:t>Hamidreza Heidari </a:t>
            </a:r>
            <a:endParaRPr sz="1600" b="1" i="1"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E775A794-92EA-4993-4A62-E6A5DBC7CE5F}"/>
              </a:ext>
            </a:extLst>
          </p:cNvPr>
          <p:cNvSpPr>
            <a:spLocks noGrp="1"/>
          </p:cNvSpPr>
          <p:nvPr>
            <p:ph type="sldNum" sz="quarter" idx="12"/>
          </p:nvPr>
        </p:nvSpPr>
        <p:spPr/>
        <p:txBody>
          <a:bodyPr/>
          <a:lstStyle/>
          <a:p>
            <a:fld id="{0FABFBA2-1CB6-1F4E-9BB3-885A90BDAFD4}" type="slidenum">
              <a:rPr lang="en-DE" smtClean="0"/>
              <a:t>1</a:t>
            </a:fld>
            <a:endParaRPr lang="en-US"/>
          </a:p>
        </p:txBody>
      </p:sp>
      <p:sp>
        <p:nvSpPr>
          <p:cNvPr id="8" name="Date Placeholder 4"/>
          <p:cNvSpPr>
            <a:spLocks noGrp="1"/>
          </p:cNvSpPr>
          <p:nvPr>
            <p:ph type="dt" sz="half" idx="10"/>
          </p:nvPr>
        </p:nvSpPr>
        <p:spPr/>
        <p:txBody>
          <a:bodyPr/>
          <a:lstStyle/>
          <a:p>
            <a:fld id="{2730DB47-BD66-40D3-AC58-64796F8ACBAF}" type="datetime1">
              <a:rPr lang="en-US"/>
              <a:pPr/>
              <a:t>10/20/2026</a:t>
            </a:fld>
            <a:endParaRPr lang="en-US" dirty="0"/>
          </a:p>
        </p:txBody>
      </p:sp>
      <p:sp>
        <p:nvSpPr>
          <p:cNvPr id="9" name="Footer Placeholder 5"/>
          <p:cNvSpPr>
            <a:spLocks noGrp="1"/>
          </p:cNvSpPr>
          <p:nvPr>
            <p:ph type="ftr" sz="quarter" idx="11"/>
          </p:nvPr>
        </p:nvSpPr>
        <p:spPr/>
        <p:txBody>
          <a:bodyPr/>
          <a:lstStyle/>
          <a:p>
            <a:r>
              <a:rPr lang="en-US"/>
              <a:t>Sensor–Text Fusion for Predictive Maintenance</a:t>
            </a:r>
            <a:endParaRPr lang="en-D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Deggendorf Institute of Technology in ...">
            <a:extLst>
              <a:ext uri="{FF2B5EF4-FFF2-40B4-BE49-F238E27FC236}">
                <a16:creationId xmlns:a16="http://schemas.microsoft.com/office/drawing/2014/main" id="{CFA7B7AE-D8DF-727B-8AEF-247E1F4E68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993" b="23415"/>
          <a:stretch/>
        </p:blipFill>
        <p:spPr bwMode="auto">
          <a:xfrm>
            <a:off x="8813800" y="18255"/>
            <a:ext cx="3378200" cy="13255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320040"/>
            <a:ext cx="7589520" cy="914400"/>
          </a:xfrm>
        </p:spPr>
        <p:txBody>
          <a:bodyPr/>
          <a:lstStyle/>
          <a:p>
            <a:pPr algn="l"/>
            <a:r>
              <a:rPr sz="3600" b="1">
                <a:latin typeface="Times New Roman"/>
                <a:cs typeface="Times New Roman"/>
              </a:rPr>
              <a:t>Introduction:</a:t>
            </a:r>
          </a:p>
        </p:txBody>
      </p:sp>
      <p:sp>
        <p:nvSpPr>
          <p:cNvPr id="3" name="Content Placeholder 2"/>
          <p:cNvSpPr>
            <a:spLocks noGrp="1"/>
          </p:cNvSpPr>
          <p:nvPr>
            <p:ph idx="1"/>
          </p:nvPr>
        </p:nvSpPr>
        <p:spPr>
          <a:xfrm>
            <a:off x="640080" y="1463040"/>
            <a:ext cx="10058400" cy="4480560"/>
          </a:xfrm>
        </p:spPr>
        <p:txBody>
          <a:bodyPr wrap="square"/>
          <a:lstStyle/>
          <a:p>
            <a:pPr marL="0" indent="0">
              <a:spcAft>
                <a:spcPts val="800"/>
              </a:spcAft>
              <a:buNone/>
            </a:pPr>
            <a:r>
              <a:rPr sz="2100" dirty="0">
                <a:latin typeface="Times New Roman"/>
                <a:cs typeface="Times New Roman"/>
              </a:rPr>
              <a:t>Unplanned machine failures cause costly downtime in production. Most predictive maintenance systems use sensor data only and ignore the written maintenance logs that technicians produce. These logs hold early warnings that sensors miss, such as “unusual noise” or “bearing worn”.</a:t>
            </a:r>
          </a:p>
          <a:p>
            <a:pPr marL="0" indent="0">
              <a:spcAft>
                <a:spcPts val="800"/>
              </a:spcAft>
              <a:buNone/>
            </a:pPr>
            <a:r>
              <a:rPr sz="2100" b="1" dirty="0">
                <a:latin typeface="Times New Roman"/>
                <a:cs typeface="Times New Roman"/>
              </a:rPr>
              <a:t>Key motivations:</a:t>
            </a:r>
          </a:p>
          <a:p>
            <a:pPr>
              <a:spcAft>
                <a:spcPts val="800"/>
              </a:spcAft>
            </a:pPr>
            <a:r>
              <a:rPr sz="2100" dirty="0">
                <a:latin typeface="Times New Roman"/>
                <a:cs typeface="Times New Roman"/>
              </a:rPr>
              <a:t>Detect failures earlier by combining sensor telemetry with maintenance text</a:t>
            </a:r>
          </a:p>
          <a:p>
            <a:pPr>
              <a:spcAft>
                <a:spcPts val="800"/>
              </a:spcAft>
            </a:pPr>
            <a:r>
              <a:rPr sz="2100" dirty="0">
                <a:latin typeface="Times New Roman"/>
                <a:cs typeface="Times New Roman"/>
              </a:rPr>
              <a:t>Reduce false alarms compared with sensor-only systems</a:t>
            </a:r>
          </a:p>
          <a:p>
            <a:pPr>
              <a:spcAft>
                <a:spcPts val="800"/>
              </a:spcAft>
            </a:pPr>
            <a:r>
              <a:rPr sz="2100" dirty="0">
                <a:latin typeface="Times New Roman"/>
                <a:cs typeface="Times New Roman"/>
              </a:rPr>
              <a:t>Support the module goals: less downtime, better quality, safer work</a:t>
            </a:r>
          </a:p>
        </p:txBody>
      </p:sp>
      <p:sp>
        <p:nvSpPr>
          <p:cNvPr id="4" name="Slide Number Placeholder 3">
            <a:extLst>
              <a:ext uri="{FF2B5EF4-FFF2-40B4-BE49-F238E27FC236}">
                <a16:creationId xmlns:a16="http://schemas.microsoft.com/office/drawing/2014/main" id="{E775A794-92EA-4993-4A62-E6A5DBC7CE5F}"/>
              </a:ext>
            </a:extLst>
          </p:cNvPr>
          <p:cNvSpPr>
            <a:spLocks noGrp="1"/>
          </p:cNvSpPr>
          <p:nvPr>
            <p:ph type="sldNum" sz="quarter" idx="12"/>
          </p:nvPr>
        </p:nvSpPr>
        <p:spPr/>
        <p:txBody>
          <a:bodyPr/>
          <a:lstStyle/>
          <a:p>
            <a:fld id="{0FABFBA2-1CB6-1F4E-9BB3-885A90BDAFD4}" type="slidenum">
              <a:rPr lang="en-DE" smtClean="0"/>
              <a:t>2</a:t>
            </a:fld>
            <a:endParaRPr lang="en-US"/>
          </a:p>
        </p:txBody>
      </p:sp>
      <p:sp>
        <p:nvSpPr>
          <p:cNvPr id="5" name="Date Placeholder 4"/>
          <p:cNvSpPr>
            <a:spLocks noGrp="1"/>
          </p:cNvSpPr>
          <p:nvPr>
            <p:ph type="dt" sz="half" idx="10"/>
          </p:nvPr>
        </p:nvSpPr>
        <p:spPr/>
        <p:txBody>
          <a:bodyPr/>
          <a:lstStyle/>
          <a:p>
            <a:fld id="{2730DB47-BD66-40D3-AC58-64796F8ACBAF}" type="datetime1">
              <a:rPr lang="en-US"/>
              <a:pPr/>
              <a:t>10/20/2026</a:t>
            </a:fld>
            <a:endParaRPr lang="en-US" dirty="0"/>
          </a:p>
        </p:txBody>
      </p:sp>
      <p:sp>
        <p:nvSpPr>
          <p:cNvPr id="6" name="Footer Placeholder 5"/>
          <p:cNvSpPr>
            <a:spLocks noGrp="1"/>
          </p:cNvSpPr>
          <p:nvPr>
            <p:ph type="ftr" sz="quarter" idx="11"/>
          </p:nvPr>
        </p:nvSpPr>
        <p:spPr/>
        <p:txBody>
          <a:bodyPr/>
          <a:lstStyle/>
          <a:p>
            <a:r>
              <a:rPr lang="en-US"/>
              <a:t>Sensor–Text Fusion for Predictive Maintenance</a:t>
            </a:r>
            <a:endParaRPr lang="en-D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Deggendorf Institute of Technology in ...">
            <a:extLst>
              <a:ext uri="{FF2B5EF4-FFF2-40B4-BE49-F238E27FC236}">
                <a16:creationId xmlns:a16="http://schemas.microsoft.com/office/drawing/2014/main" id="{CFA7B7AE-D8DF-727B-8AEF-247E1F4E68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993" b="23415"/>
          <a:stretch/>
        </p:blipFill>
        <p:spPr bwMode="auto">
          <a:xfrm>
            <a:off x="8813800" y="18255"/>
            <a:ext cx="3378200" cy="13255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320040"/>
            <a:ext cx="7589520" cy="914400"/>
          </a:xfrm>
        </p:spPr>
        <p:txBody>
          <a:bodyPr/>
          <a:lstStyle/>
          <a:p>
            <a:pPr algn="l"/>
            <a:r>
              <a:rPr sz="3600" b="1">
                <a:latin typeface="Times New Roman"/>
                <a:cs typeface="Times New Roman"/>
              </a:rPr>
              <a:t>Project Scope:</a:t>
            </a:r>
          </a:p>
        </p:txBody>
      </p:sp>
      <p:sp>
        <p:nvSpPr>
          <p:cNvPr id="3" name="Content Placeholder 2"/>
          <p:cNvSpPr>
            <a:spLocks noGrp="1"/>
          </p:cNvSpPr>
          <p:nvPr>
            <p:ph idx="1"/>
          </p:nvPr>
        </p:nvSpPr>
        <p:spPr>
          <a:xfrm>
            <a:off x="640080" y="1463040"/>
            <a:ext cx="10058400" cy="4480560"/>
          </a:xfrm>
        </p:spPr>
        <p:txBody>
          <a:bodyPr wrap="square">
            <a:normAutofit lnSpcReduction="10000"/>
          </a:bodyPr>
          <a:lstStyle/>
          <a:p>
            <a:pPr marL="0" indent="0">
              <a:spcAft>
                <a:spcPts val="600"/>
              </a:spcAft>
              <a:buNone/>
            </a:pPr>
            <a:r>
              <a:rPr sz="1900" b="1" dirty="0">
                <a:latin typeface="Times New Roman"/>
                <a:cs typeface="Times New Roman"/>
              </a:rPr>
              <a:t>Aim:</a:t>
            </a:r>
          </a:p>
          <a:p>
            <a:pPr marL="0" indent="0">
              <a:spcAft>
                <a:spcPts val="600"/>
              </a:spcAft>
              <a:buNone/>
            </a:pPr>
            <a:r>
              <a:rPr sz="1900" dirty="0">
                <a:latin typeface="Times New Roman"/>
                <a:cs typeface="Times New Roman"/>
              </a:rPr>
              <a:t>Predict machine failures by fusing sensor telemetry with maintenance log text in a Big Data pipeline, and show whether fusion beats a sensor-only baseline.</a:t>
            </a:r>
          </a:p>
          <a:p>
            <a:pPr marL="0" indent="0">
              <a:spcAft>
                <a:spcPts val="600"/>
              </a:spcAft>
              <a:buNone/>
            </a:pPr>
            <a:r>
              <a:rPr sz="1900" b="1" dirty="0">
                <a:latin typeface="Times New Roman"/>
                <a:cs typeface="Times New Roman"/>
              </a:rPr>
              <a:t>Includes:</a:t>
            </a:r>
          </a:p>
          <a:p>
            <a:pPr>
              <a:spcAft>
                <a:spcPts val="600"/>
              </a:spcAft>
            </a:pPr>
            <a:r>
              <a:rPr sz="1900" dirty="0" err="1">
                <a:latin typeface="Times New Roman"/>
                <a:cs typeface="Times New Roman"/>
              </a:rPr>
              <a:t>PySpark</a:t>
            </a:r>
            <a:r>
              <a:rPr sz="1900" dirty="0">
                <a:latin typeface="Times New Roman"/>
                <a:cs typeface="Times New Roman"/>
              </a:rPr>
              <a:t> pipeline that turns raw telemetry into failure-relevant features</a:t>
            </a:r>
          </a:p>
          <a:p>
            <a:pPr>
              <a:spcAft>
                <a:spcPts val="600"/>
              </a:spcAft>
            </a:pPr>
            <a:r>
              <a:rPr sz="1900" dirty="0">
                <a:latin typeface="Times New Roman"/>
                <a:cs typeface="Times New Roman"/>
              </a:rPr>
              <a:t>NLP classifier for free-text maintenance logs</a:t>
            </a:r>
          </a:p>
          <a:p>
            <a:pPr>
              <a:spcAft>
                <a:spcPts val="600"/>
              </a:spcAft>
            </a:pPr>
            <a:r>
              <a:rPr sz="1900" dirty="0">
                <a:latin typeface="Times New Roman"/>
                <a:cs typeface="Times New Roman"/>
              </a:rPr>
              <a:t>Fused model predicting failure within the next 24 hours</a:t>
            </a:r>
          </a:p>
          <a:p>
            <a:pPr>
              <a:spcAft>
                <a:spcPts val="600"/>
              </a:spcAft>
            </a:pPr>
            <a:r>
              <a:rPr sz="1900" dirty="0">
                <a:latin typeface="Times New Roman"/>
                <a:cs typeface="Times New Roman"/>
              </a:rPr>
              <a:t>Comparison of sensor-only vs fused model; GitHub repo and </a:t>
            </a:r>
            <a:r>
              <a:rPr sz="1900" dirty="0" err="1">
                <a:latin typeface="Times New Roman"/>
                <a:cs typeface="Times New Roman"/>
              </a:rPr>
              <a:t>Streamlit</a:t>
            </a:r>
            <a:r>
              <a:rPr sz="1900" dirty="0">
                <a:latin typeface="Times New Roman"/>
                <a:cs typeface="Times New Roman"/>
              </a:rPr>
              <a:t> demo</a:t>
            </a:r>
          </a:p>
          <a:p>
            <a:pPr marL="0" indent="0">
              <a:spcAft>
                <a:spcPts val="600"/>
              </a:spcAft>
              <a:buNone/>
            </a:pPr>
            <a:r>
              <a:rPr sz="1900" b="1" dirty="0">
                <a:latin typeface="Times New Roman"/>
                <a:cs typeface="Times New Roman"/>
              </a:rPr>
              <a:t>Out of Scope (Current Phase):</a:t>
            </a:r>
          </a:p>
          <a:p>
            <a:pPr>
              <a:spcAft>
                <a:spcPts val="600"/>
              </a:spcAft>
            </a:pPr>
            <a:r>
              <a:rPr lang="en-US" sz="1900" dirty="0"/>
              <a:t>Validation using real, synchronized sensor data and maintenance logs from the same machines.</a:t>
            </a:r>
          </a:p>
          <a:p>
            <a:pPr>
              <a:spcAft>
                <a:spcPts val="600"/>
              </a:spcAft>
            </a:pPr>
            <a:endParaRPr sz="1900" i="1" dirty="0">
              <a:latin typeface="Times New Roman"/>
              <a:cs typeface="Times New Roman"/>
            </a:endParaRPr>
          </a:p>
        </p:txBody>
      </p:sp>
      <p:sp>
        <p:nvSpPr>
          <p:cNvPr id="4" name="Slide Number Placeholder 3">
            <a:extLst>
              <a:ext uri="{FF2B5EF4-FFF2-40B4-BE49-F238E27FC236}">
                <a16:creationId xmlns:a16="http://schemas.microsoft.com/office/drawing/2014/main" id="{E775A794-92EA-4993-4A62-E6A5DBC7CE5F}"/>
              </a:ext>
            </a:extLst>
          </p:cNvPr>
          <p:cNvSpPr>
            <a:spLocks noGrp="1"/>
          </p:cNvSpPr>
          <p:nvPr>
            <p:ph type="sldNum" sz="quarter" idx="12"/>
          </p:nvPr>
        </p:nvSpPr>
        <p:spPr/>
        <p:txBody>
          <a:bodyPr/>
          <a:lstStyle/>
          <a:p>
            <a:fld id="{0FABFBA2-1CB6-1F4E-9BB3-885A90BDAFD4}" type="slidenum">
              <a:rPr lang="en-DE" smtClean="0"/>
              <a:t>3</a:t>
            </a:fld>
            <a:endParaRPr lang="en-US"/>
          </a:p>
        </p:txBody>
      </p:sp>
      <p:sp>
        <p:nvSpPr>
          <p:cNvPr id="5" name="Date Placeholder 4"/>
          <p:cNvSpPr>
            <a:spLocks noGrp="1"/>
          </p:cNvSpPr>
          <p:nvPr>
            <p:ph type="dt" sz="half" idx="10"/>
          </p:nvPr>
        </p:nvSpPr>
        <p:spPr/>
        <p:txBody>
          <a:bodyPr/>
          <a:lstStyle/>
          <a:p>
            <a:fld id="{2730DB47-BD66-40D3-AC58-64796F8ACBAF}" type="datetime1">
              <a:rPr lang="en-US"/>
              <a:pPr/>
              <a:t>10/20/2026</a:t>
            </a:fld>
            <a:endParaRPr lang="en-US" dirty="0"/>
          </a:p>
        </p:txBody>
      </p:sp>
      <p:sp>
        <p:nvSpPr>
          <p:cNvPr id="6" name="Footer Placeholder 5"/>
          <p:cNvSpPr>
            <a:spLocks noGrp="1"/>
          </p:cNvSpPr>
          <p:nvPr>
            <p:ph type="ftr" sz="quarter" idx="11"/>
          </p:nvPr>
        </p:nvSpPr>
        <p:spPr/>
        <p:txBody>
          <a:bodyPr/>
          <a:lstStyle/>
          <a:p>
            <a:r>
              <a:rPr lang="en-US"/>
              <a:t>Sensor–Text Fusion for Predictive Maintenance</a:t>
            </a:r>
            <a:endParaRPr lang="en-D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Deggendorf Institute of Technology in ...">
            <a:extLst>
              <a:ext uri="{FF2B5EF4-FFF2-40B4-BE49-F238E27FC236}">
                <a16:creationId xmlns:a16="http://schemas.microsoft.com/office/drawing/2014/main" id="{CFA7B7AE-D8DF-727B-8AEF-247E1F4E68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993" b="23415"/>
          <a:stretch/>
        </p:blipFill>
        <p:spPr bwMode="auto">
          <a:xfrm>
            <a:off x="8813800" y="18255"/>
            <a:ext cx="3378200" cy="13255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320040"/>
            <a:ext cx="7589520" cy="914400"/>
          </a:xfrm>
        </p:spPr>
        <p:txBody>
          <a:bodyPr/>
          <a:lstStyle/>
          <a:p>
            <a:pPr algn="l"/>
            <a:r>
              <a:rPr sz="3600" b="1">
                <a:latin typeface="Times New Roman"/>
                <a:cs typeface="Times New Roman"/>
              </a:rPr>
              <a:t>Objectives:</a:t>
            </a:r>
          </a:p>
        </p:txBody>
      </p:sp>
      <p:sp>
        <p:nvSpPr>
          <p:cNvPr id="3" name="Content Placeholder 2"/>
          <p:cNvSpPr>
            <a:spLocks noGrp="1"/>
          </p:cNvSpPr>
          <p:nvPr>
            <p:ph idx="1"/>
          </p:nvPr>
        </p:nvSpPr>
        <p:spPr>
          <a:xfrm>
            <a:off x="640080" y="1463040"/>
            <a:ext cx="10058400" cy="4480560"/>
          </a:xfrm>
        </p:spPr>
        <p:txBody>
          <a:bodyPr wrap="square"/>
          <a:lstStyle/>
          <a:p>
            <a:pPr>
              <a:spcAft>
                <a:spcPts val="1200"/>
              </a:spcAft>
            </a:pPr>
            <a:r>
              <a:rPr sz="2200" dirty="0">
                <a:latin typeface="Times New Roman"/>
                <a:cs typeface="Times New Roman"/>
              </a:rPr>
              <a:t>Build a scalable </a:t>
            </a:r>
            <a:r>
              <a:rPr sz="2200" dirty="0" err="1">
                <a:latin typeface="Times New Roman"/>
                <a:cs typeface="Times New Roman"/>
              </a:rPr>
              <a:t>PySpark</a:t>
            </a:r>
            <a:r>
              <a:rPr sz="2200" dirty="0">
                <a:latin typeface="Times New Roman"/>
                <a:cs typeface="Times New Roman"/>
              </a:rPr>
              <a:t> pipeline that turns raw machine telemetry into failure-relevant features.</a:t>
            </a:r>
          </a:p>
          <a:p>
            <a:pPr>
              <a:spcAft>
                <a:spcPts val="1200"/>
              </a:spcAft>
            </a:pPr>
            <a:r>
              <a:rPr sz="2200" dirty="0">
                <a:latin typeface="Times New Roman"/>
                <a:cs typeface="Times New Roman"/>
              </a:rPr>
              <a:t>Build an NLP model that classifies free-text maintenance logs into fault categories.</a:t>
            </a:r>
          </a:p>
          <a:p>
            <a:pPr>
              <a:spcAft>
                <a:spcPts val="1200"/>
              </a:spcAft>
            </a:pPr>
            <a:r>
              <a:rPr sz="2200" dirty="0">
                <a:latin typeface="Times New Roman"/>
                <a:cs typeface="Times New Roman"/>
              </a:rPr>
              <a:t>Fuse sensor and text features to predict whether a machine fails within the next 24 hours.</a:t>
            </a:r>
          </a:p>
          <a:p>
            <a:pPr>
              <a:spcAft>
                <a:spcPts val="1200"/>
              </a:spcAft>
            </a:pPr>
            <a:r>
              <a:rPr sz="2200" dirty="0">
                <a:latin typeface="Times New Roman"/>
                <a:cs typeface="Times New Roman"/>
              </a:rPr>
              <a:t>Show whether fusion beats a sensor-only baseline, measured with clear KPIs.</a:t>
            </a:r>
          </a:p>
          <a:p>
            <a:pPr>
              <a:spcAft>
                <a:spcPts val="1200"/>
              </a:spcAft>
            </a:pPr>
            <a:r>
              <a:rPr sz="2200" dirty="0">
                <a:latin typeface="Times New Roman"/>
                <a:cs typeface="Times New Roman"/>
              </a:rPr>
              <a:t>Deliver a reproducible GitHub repo and a </a:t>
            </a:r>
            <a:r>
              <a:rPr sz="2200" dirty="0" err="1">
                <a:latin typeface="Times New Roman"/>
                <a:cs typeface="Times New Roman"/>
              </a:rPr>
              <a:t>Streamlit</a:t>
            </a:r>
            <a:r>
              <a:rPr sz="2200" dirty="0">
                <a:latin typeface="Times New Roman"/>
                <a:cs typeface="Times New Roman"/>
              </a:rPr>
              <a:t> demo.</a:t>
            </a:r>
          </a:p>
        </p:txBody>
      </p:sp>
      <p:sp>
        <p:nvSpPr>
          <p:cNvPr id="4" name="Slide Number Placeholder 3">
            <a:extLst>
              <a:ext uri="{FF2B5EF4-FFF2-40B4-BE49-F238E27FC236}">
                <a16:creationId xmlns:a16="http://schemas.microsoft.com/office/drawing/2014/main" id="{E775A794-92EA-4993-4A62-E6A5DBC7CE5F}"/>
              </a:ext>
            </a:extLst>
          </p:cNvPr>
          <p:cNvSpPr>
            <a:spLocks noGrp="1"/>
          </p:cNvSpPr>
          <p:nvPr>
            <p:ph type="sldNum" sz="quarter" idx="12"/>
          </p:nvPr>
        </p:nvSpPr>
        <p:spPr/>
        <p:txBody>
          <a:bodyPr/>
          <a:lstStyle/>
          <a:p>
            <a:fld id="{0FABFBA2-1CB6-1F4E-9BB3-885A90BDAFD4}" type="slidenum">
              <a:rPr lang="en-DE" smtClean="0"/>
              <a:t>4</a:t>
            </a:fld>
            <a:endParaRPr lang="en-US"/>
          </a:p>
        </p:txBody>
      </p:sp>
      <p:sp>
        <p:nvSpPr>
          <p:cNvPr id="5" name="Date Placeholder 4"/>
          <p:cNvSpPr>
            <a:spLocks noGrp="1"/>
          </p:cNvSpPr>
          <p:nvPr>
            <p:ph type="dt" sz="half" idx="10"/>
          </p:nvPr>
        </p:nvSpPr>
        <p:spPr/>
        <p:txBody>
          <a:bodyPr/>
          <a:lstStyle/>
          <a:p>
            <a:fld id="{2730DB47-BD66-40D3-AC58-64796F8ACBAF}" type="datetime1">
              <a:rPr lang="en-US"/>
              <a:pPr/>
              <a:t>10/20/2026</a:t>
            </a:fld>
            <a:endParaRPr lang="en-US" dirty="0"/>
          </a:p>
        </p:txBody>
      </p:sp>
      <p:sp>
        <p:nvSpPr>
          <p:cNvPr id="6" name="Footer Placeholder 5"/>
          <p:cNvSpPr>
            <a:spLocks noGrp="1"/>
          </p:cNvSpPr>
          <p:nvPr>
            <p:ph type="ftr" sz="quarter" idx="11"/>
          </p:nvPr>
        </p:nvSpPr>
        <p:spPr/>
        <p:txBody>
          <a:bodyPr/>
          <a:lstStyle/>
          <a:p>
            <a:r>
              <a:rPr lang="en-US"/>
              <a:t>Sensor–Text Fusion for Predictive Maintenance</a:t>
            </a:r>
            <a:endParaRPr lang="en-D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Deggendorf Institute of Technology in ...">
            <a:extLst>
              <a:ext uri="{FF2B5EF4-FFF2-40B4-BE49-F238E27FC236}">
                <a16:creationId xmlns:a16="http://schemas.microsoft.com/office/drawing/2014/main" id="{CFA7B7AE-D8DF-727B-8AEF-247E1F4E68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993" b="23415"/>
          <a:stretch/>
        </p:blipFill>
        <p:spPr bwMode="auto">
          <a:xfrm>
            <a:off x="8813800" y="18255"/>
            <a:ext cx="3378200" cy="13255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320040"/>
            <a:ext cx="7589520" cy="914400"/>
          </a:xfrm>
        </p:spPr>
        <p:txBody>
          <a:bodyPr/>
          <a:lstStyle/>
          <a:p>
            <a:pPr algn="l"/>
            <a:r>
              <a:rPr sz="3600" b="1">
                <a:latin typeface="Times New Roman"/>
                <a:cs typeface="Times New Roman"/>
              </a:rPr>
              <a:t>Data Sources:</a:t>
            </a:r>
          </a:p>
        </p:txBody>
      </p:sp>
      <p:sp>
        <p:nvSpPr>
          <p:cNvPr id="4" name="Slide Number Placeholder 3">
            <a:extLst>
              <a:ext uri="{FF2B5EF4-FFF2-40B4-BE49-F238E27FC236}">
                <a16:creationId xmlns:a16="http://schemas.microsoft.com/office/drawing/2014/main" id="{E775A794-92EA-4993-4A62-E6A5DBC7CE5F}"/>
              </a:ext>
            </a:extLst>
          </p:cNvPr>
          <p:cNvSpPr>
            <a:spLocks noGrp="1"/>
          </p:cNvSpPr>
          <p:nvPr>
            <p:ph type="sldNum" sz="quarter" idx="12"/>
          </p:nvPr>
        </p:nvSpPr>
        <p:spPr/>
        <p:txBody>
          <a:bodyPr/>
          <a:lstStyle/>
          <a:p>
            <a:fld id="{0FABFBA2-1CB6-1F4E-9BB3-885A90BDAFD4}" type="slidenum">
              <a:rPr lang="en-DE" smtClean="0"/>
              <a:t>5</a:t>
            </a:fld>
            <a:endParaRPr lang="en-US"/>
          </a:p>
        </p:txBody>
      </p:sp>
      <p:sp>
        <p:nvSpPr>
          <p:cNvPr id="5" name="Date Placeholder 4"/>
          <p:cNvSpPr>
            <a:spLocks noGrp="1"/>
          </p:cNvSpPr>
          <p:nvPr>
            <p:ph type="dt" sz="half" idx="10"/>
          </p:nvPr>
        </p:nvSpPr>
        <p:spPr/>
        <p:txBody>
          <a:bodyPr/>
          <a:lstStyle/>
          <a:p>
            <a:fld id="{2730DB47-BD66-40D3-AC58-64796F8ACBAF}" type="datetime1">
              <a:rPr lang="en-US"/>
              <a:pPr/>
              <a:t>10/20/2026</a:t>
            </a:fld>
            <a:endParaRPr lang="en-US" dirty="0"/>
          </a:p>
        </p:txBody>
      </p:sp>
      <p:sp>
        <p:nvSpPr>
          <p:cNvPr id="6" name="Footer Placeholder 5"/>
          <p:cNvSpPr>
            <a:spLocks noGrp="1"/>
          </p:cNvSpPr>
          <p:nvPr>
            <p:ph type="ftr" sz="quarter" idx="11"/>
          </p:nvPr>
        </p:nvSpPr>
        <p:spPr/>
        <p:txBody>
          <a:bodyPr/>
          <a:lstStyle/>
          <a:p>
            <a:r>
              <a:rPr lang="en-US"/>
              <a:t>Sensor–Text Fusion for Predictive Maintenance</a:t>
            </a:r>
            <a:endParaRPr lang="en-DE"/>
          </a:p>
        </p:txBody>
      </p:sp>
      <p:graphicFrame>
        <p:nvGraphicFramePr>
          <p:cNvPr id="2055" name="Table 2054"/>
          <p:cNvGraphicFramePr>
            <a:graphicFrameLocks noGrp="1"/>
          </p:cNvGraphicFramePr>
          <p:nvPr/>
        </p:nvGraphicFramePr>
        <p:xfrm>
          <a:off x="548640" y="1463040"/>
          <a:ext cx="10972800" cy="251460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822960">
                <a:tc>
                  <a:txBody>
                    <a:bodyPr/>
                    <a:lstStyle/>
                    <a:p>
                      <a:pPr algn="ctr"/>
                      <a:r>
                        <a:rPr sz="2000" b="1">
                          <a:solidFill>
                            <a:srgbClr val="FFFFFF"/>
                          </a:solidFill>
                          <a:latin typeface="Times New Roman"/>
                          <a:cs typeface="Times New Roman"/>
                        </a:rPr>
                        <a:t>Dataset</a:t>
                      </a:r>
                    </a:p>
                  </a:txBody>
                  <a:tcPr anchor="ctr">
                    <a:solidFill>
                      <a:srgbClr val="000000"/>
                    </a:solidFill>
                  </a:tcPr>
                </a:tc>
                <a:tc>
                  <a:txBody>
                    <a:bodyPr/>
                    <a:lstStyle/>
                    <a:p>
                      <a:pPr algn="ctr"/>
                      <a:r>
                        <a:rPr sz="2000" b="1">
                          <a:solidFill>
                            <a:srgbClr val="FFFFFF"/>
                          </a:solidFill>
                          <a:latin typeface="Times New Roman"/>
                          <a:cs typeface="Times New Roman"/>
                        </a:rPr>
                        <a:t>Role</a:t>
                      </a:r>
                    </a:p>
                  </a:txBody>
                  <a:tcPr anchor="ctr">
                    <a:solidFill>
                      <a:srgbClr val="000000"/>
                    </a:solidFill>
                  </a:tcPr>
                </a:tc>
                <a:tc>
                  <a:txBody>
                    <a:bodyPr/>
                    <a:lstStyle/>
                    <a:p>
                      <a:pPr algn="ctr"/>
                      <a:r>
                        <a:rPr sz="2000" b="1">
                          <a:solidFill>
                            <a:srgbClr val="FFFFFF"/>
                          </a:solidFill>
                          <a:latin typeface="Times New Roman"/>
                          <a:cs typeface="Times New Roman"/>
                        </a:rPr>
                        <a:t>Content</a:t>
                      </a:r>
                    </a:p>
                  </a:txBody>
                  <a:tcPr anchor="ctr">
                    <a:solidFill>
                      <a:srgbClr val="000000"/>
                    </a:solidFill>
                  </a:tcPr>
                </a:tc>
                <a:extLst>
                  <a:ext uri="{0D108BD9-81ED-4DB2-BD59-A6C34878D82A}">
                    <a16:rowId xmlns:a16="http://schemas.microsoft.com/office/drawing/2014/main" val="10000"/>
                  </a:ext>
                </a:extLst>
              </a:tr>
              <a:tr h="822960">
                <a:tc>
                  <a:txBody>
                    <a:bodyPr/>
                    <a:lstStyle/>
                    <a:p>
                      <a:r>
                        <a:rPr sz="1700">
                          <a:solidFill>
                            <a:srgbClr val="000000"/>
                          </a:solidFill>
                          <a:latin typeface="Times New Roman"/>
                          <a:cs typeface="Times New Roman"/>
                        </a:rPr>
                        <a:t>Microsoft Azure Predictive Maintenance (Kaggle)</a:t>
                      </a:r>
                    </a:p>
                  </a:txBody>
                  <a:tcPr anchor="ctr">
                    <a:solidFill>
                      <a:srgbClr val="CFCFCF"/>
                    </a:solidFill>
                  </a:tcPr>
                </a:tc>
                <a:tc>
                  <a:txBody>
                    <a:bodyPr/>
                    <a:lstStyle/>
                    <a:p>
                      <a:r>
                        <a:rPr sz="1700">
                          <a:solidFill>
                            <a:srgbClr val="000000"/>
                          </a:solidFill>
                          <a:latin typeface="Times New Roman"/>
                          <a:cs typeface="Times New Roman"/>
                        </a:rPr>
                        <a:t>Sensor data (Big Data)</a:t>
                      </a:r>
                    </a:p>
                  </a:txBody>
                  <a:tcPr anchor="ctr">
                    <a:solidFill>
                      <a:srgbClr val="CFCFCF"/>
                    </a:solidFill>
                  </a:tcPr>
                </a:tc>
                <a:tc>
                  <a:txBody>
                    <a:bodyPr/>
                    <a:lstStyle/>
                    <a:p>
                      <a:r>
                        <a:rPr sz="1700">
                          <a:solidFill>
                            <a:srgbClr val="000000"/>
                          </a:solidFill>
                          <a:latin typeface="Times New Roman"/>
                          <a:cs typeface="Times New Roman"/>
                        </a:rPr>
                        <a:t>100 machines, hourly telemetry (voltage, rotation, pressure, vibration), errors, maintenance and failure records</a:t>
                      </a:r>
                    </a:p>
                  </a:txBody>
                  <a:tcPr anchor="ctr">
                    <a:solidFill>
                      <a:srgbClr val="CFCFCF"/>
                    </a:solidFill>
                  </a:tcPr>
                </a:tc>
                <a:extLst>
                  <a:ext uri="{0D108BD9-81ED-4DB2-BD59-A6C34878D82A}">
                    <a16:rowId xmlns:a16="http://schemas.microsoft.com/office/drawing/2014/main" val="10001"/>
                  </a:ext>
                </a:extLst>
              </a:tr>
              <a:tr h="822960">
                <a:tc>
                  <a:txBody>
                    <a:bodyPr/>
                    <a:lstStyle/>
                    <a:p>
                      <a:r>
                        <a:rPr sz="1700">
                          <a:solidFill>
                            <a:srgbClr val="000000"/>
                          </a:solidFill>
                          <a:latin typeface="Times New Roman"/>
                          <a:cs typeface="Times New Roman"/>
                        </a:rPr>
                        <a:t>Aircraft Historical Maintenance Dataset – MaintNet (Kaggle)</a:t>
                      </a:r>
                    </a:p>
                  </a:txBody>
                  <a:tcPr anchor="ctr">
                    <a:solidFill>
                      <a:srgbClr val="E9E9E9"/>
                    </a:solidFill>
                  </a:tcPr>
                </a:tc>
                <a:tc>
                  <a:txBody>
                    <a:bodyPr/>
                    <a:lstStyle/>
                    <a:p>
                      <a:r>
                        <a:rPr sz="1700">
                          <a:solidFill>
                            <a:srgbClr val="000000"/>
                          </a:solidFill>
                          <a:latin typeface="Times New Roman"/>
                          <a:cs typeface="Times New Roman"/>
                        </a:rPr>
                        <a:t>Text data (NLP)</a:t>
                      </a:r>
                    </a:p>
                  </a:txBody>
                  <a:tcPr anchor="ctr">
                    <a:solidFill>
                      <a:srgbClr val="E9E9E9"/>
                    </a:solidFill>
                  </a:tcPr>
                </a:tc>
                <a:tc>
                  <a:txBody>
                    <a:bodyPr/>
                    <a:lstStyle/>
                    <a:p>
                      <a:r>
                        <a:rPr sz="1700">
                          <a:solidFill>
                            <a:srgbClr val="000000"/>
                          </a:solidFill>
                          <a:latin typeface="Times New Roman"/>
                          <a:cs typeface="Times New Roman"/>
                        </a:rPr>
                        <a:t>6,169 free-text maintenance logs: problem description and action taken</a:t>
                      </a:r>
                    </a:p>
                  </a:txBody>
                  <a:tcPr anchor="ctr">
                    <a:solidFill>
                      <a:srgbClr val="E9E9E9"/>
                    </a:solidFill>
                  </a:tcPr>
                </a:tc>
                <a:extLst>
                  <a:ext uri="{0D108BD9-81ED-4DB2-BD59-A6C34878D82A}">
                    <a16:rowId xmlns:a16="http://schemas.microsoft.com/office/drawing/2014/main" val="10002"/>
                  </a:ext>
                </a:extLst>
              </a:tr>
            </a:tbl>
          </a:graphicData>
        </a:graphic>
      </p:graphicFrame>
      <p:sp>
        <p:nvSpPr>
          <p:cNvPr id="2056" name="TextBox 2055"/>
          <p:cNvSpPr txBox="1"/>
          <p:nvPr/>
        </p:nvSpPr>
        <p:spPr>
          <a:xfrm>
            <a:off x="548640" y="4251960"/>
            <a:ext cx="10972800" cy="1371600"/>
          </a:xfrm>
          <a:prstGeom prst="rect">
            <a:avLst/>
          </a:prstGeom>
          <a:noFill/>
        </p:spPr>
        <p:txBody>
          <a:bodyPr wrap="square">
            <a:spAutoFit/>
          </a:bodyPr>
          <a:lstStyle/>
          <a:p>
            <a:pPr algn="l">
              <a:spcAft>
                <a:spcPts val="400"/>
              </a:spcAft>
            </a:pPr>
            <a:r>
              <a:rPr sz="1600" b="1">
                <a:latin typeface="Times New Roman"/>
                <a:cs typeface="Times New Roman"/>
              </a:rPr>
              <a:t>Both datasets are public and free, so no data collection is needed.</a:t>
            </a:r>
          </a:p>
          <a:p>
            <a:pPr algn="l">
              <a:spcAft>
                <a:spcPts val="400"/>
              </a:spcAft>
            </a:pPr>
            <a:r>
              <a:rPr sz="1600" b="0">
                <a:latin typeface="Times New Roman"/>
                <a:cs typeface="Times New Roman"/>
              </a:rPr>
              <a:t>No public dataset holds sensor data and text logs for the same machines. The NLP model is trained on real MaintNet text; MaintNet-style log entries are then generated for each Azure maintenance and error event. This is documented openly as a limitation.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Deggendorf Institute of Technology in ...">
            <a:extLst>
              <a:ext uri="{FF2B5EF4-FFF2-40B4-BE49-F238E27FC236}">
                <a16:creationId xmlns:a16="http://schemas.microsoft.com/office/drawing/2014/main" id="{CFA7B7AE-D8DF-727B-8AEF-247E1F4E68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993" b="23415"/>
          <a:stretch/>
        </p:blipFill>
        <p:spPr bwMode="auto">
          <a:xfrm>
            <a:off x="8813800" y="18255"/>
            <a:ext cx="3378200" cy="13255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320040"/>
            <a:ext cx="7589520" cy="914400"/>
          </a:xfrm>
        </p:spPr>
        <p:txBody>
          <a:bodyPr/>
          <a:lstStyle/>
          <a:p>
            <a:pPr algn="l"/>
            <a:r>
              <a:rPr sz="3600" b="1">
                <a:latin typeface="Times New Roman"/>
                <a:cs typeface="Times New Roman"/>
              </a:rPr>
              <a:t>Literature Review:</a:t>
            </a:r>
          </a:p>
        </p:txBody>
      </p:sp>
      <p:sp>
        <p:nvSpPr>
          <p:cNvPr id="4" name="Slide Number Placeholder 3">
            <a:extLst>
              <a:ext uri="{FF2B5EF4-FFF2-40B4-BE49-F238E27FC236}">
                <a16:creationId xmlns:a16="http://schemas.microsoft.com/office/drawing/2014/main" id="{E775A794-92EA-4993-4A62-E6A5DBC7CE5F}"/>
              </a:ext>
            </a:extLst>
          </p:cNvPr>
          <p:cNvSpPr>
            <a:spLocks noGrp="1"/>
          </p:cNvSpPr>
          <p:nvPr>
            <p:ph type="sldNum" sz="quarter" idx="12"/>
          </p:nvPr>
        </p:nvSpPr>
        <p:spPr/>
        <p:txBody>
          <a:bodyPr/>
          <a:lstStyle/>
          <a:p>
            <a:fld id="{0FABFBA2-1CB6-1F4E-9BB3-885A90BDAFD4}" type="slidenum">
              <a:rPr lang="en-DE" smtClean="0"/>
              <a:t>6</a:t>
            </a:fld>
            <a:endParaRPr lang="en-US" dirty="0"/>
          </a:p>
        </p:txBody>
      </p:sp>
      <p:sp>
        <p:nvSpPr>
          <p:cNvPr id="5" name="Date Placeholder 4"/>
          <p:cNvSpPr>
            <a:spLocks noGrp="1"/>
          </p:cNvSpPr>
          <p:nvPr>
            <p:ph type="dt" sz="half" idx="10"/>
          </p:nvPr>
        </p:nvSpPr>
        <p:spPr/>
        <p:txBody>
          <a:bodyPr/>
          <a:lstStyle/>
          <a:p>
            <a:fld id="{2730DB47-BD66-40D3-AC58-64796F8ACBAF}" type="datetime1">
              <a:rPr lang="en-US"/>
              <a:pPr/>
              <a:t>10/20/2026</a:t>
            </a:fld>
            <a:endParaRPr lang="en-US" dirty="0"/>
          </a:p>
        </p:txBody>
      </p:sp>
      <p:sp>
        <p:nvSpPr>
          <p:cNvPr id="6" name="Footer Placeholder 5"/>
          <p:cNvSpPr>
            <a:spLocks noGrp="1"/>
          </p:cNvSpPr>
          <p:nvPr>
            <p:ph type="ftr" sz="quarter" idx="11"/>
          </p:nvPr>
        </p:nvSpPr>
        <p:spPr/>
        <p:txBody>
          <a:bodyPr/>
          <a:lstStyle/>
          <a:p>
            <a:r>
              <a:rPr lang="en-US"/>
              <a:t>Sensor–Text Fusion for Predictive Maintenance</a:t>
            </a:r>
            <a:endParaRPr lang="en-DE"/>
          </a:p>
        </p:txBody>
      </p:sp>
      <p:graphicFrame>
        <p:nvGraphicFramePr>
          <p:cNvPr id="2055" name="Table 2054"/>
          <p:cNvGraphicFramePr>
            <a:graphicFrameLocks noGrp="1"/>
          </p:cNvGraphicFramePr>
          <p:nvPr/>
        </p:nvGraphicFramePr>
        <p:xfrm>
          <a:off x="457200" y="1417320"/>
          <a:ext cx="11247120" cy="43891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1097280">
                <a:tc>
                  <a:txBody>
                    <a:bodyPr/>
                    <a:lstStyle/>
                    <a:p>
                      <a:pPr algn="ctr"/>
                      <a:r>
                        <a:rPr sz="1700" b="1">
                          <a:solidFill>
                            <a:srgbClr val="FFFFFF"/>
                          </a:solidFill>
                          <a:latin typeface="Times New Roman"/>
                          <a:cs typeface="Times New Roman"/>
                        </a:rPr>
                        <a:t>Theme</a:t>
                      </a:r>
                    </a:p>
                  </a:txBody>
                  <a:tcPr anchor="ctr">
                    <a:solidFill>
                      <a:srgbClr val="000000"/>
                    </a:solidFill>
                  </a:tcPr>
                </a:tc>
                <a:tc>
                  <a:txBody>
                    <a:bodyPr/>
                    <a:lstStyle/>
                    <a:p>
                      <a:pPr algn="ctr"/>
                      <a:r>
                        <a:rPr sz="1700" b="1">
                          <a:solidFill>
                            <a:srgbClr val="FFFFFF"/>
                          </a:solidFill>
                          <a:latin typeface="Times New Roman"/>
                          <a:cs typeface="Times New Roman"/>
                        </a:rPr>
                        <a:t>Key sources</a:t>
                      </a:r>
                    </a:p>
                  </a:txBody>
                  <a:tcPr anchor="ctr">
                    <a:solidFill>
                      <a:srgbClr val="000000"/>
                    </a:solidFill>
                  </a:tcPr>
                </a:tc>
                <a:tc>
                  <a:txBody>
                    <a:bodyPr/>
                    <a:lstStyle/>
                    <a:p>
                      <a:pPr algn="ctr"/>
                      <a:r>
                        <a:rPr sz="1700" b="1">
                          <a:solidFill>
                            <a:srgbClr val="FFFFFF"/>
                          </a:solidFill>
                          <a:latin typeface="Times New Roman"/>
                          <a:cs typeface="Times New Roman"/>
                        </a:rPr>
                        <a:t>Why it matters</a:t>
                      </a:r>
                    </a:p>
                  </a:txBody>
                  <a:tcPr anchor="ctr">
                    <a:solidFill>
                      <a:srgbClr val="000000"/>
                    </a:solidFill>
                  </a:tcPr>
                </a:tc>
                <a:extLst>
                  <a:ext uri="{0D108BD9-81ED-4DB2-BD59-A6C34878D82A}">
                    <a16:rowId xmlns:a16="http://schemas.microsoft.com/office/drawing/2014/main" val="10000"/>
                  </a:ext>
                </a:extLst>
              </a:tr>
              <a:tr h="1097280">
                <a:tc>
                  <a:txBody>
                    <a:bodyPr/>
                    <a:lstStyle/>
                    <a:p>
                      <a:r>
                        <a:rPr sz="1400">
                          <a:solidFill>
                            <a:srgbClr val="000000"/>
                          </a:solidFill>
                          <a:latin typeface="Times New Roman"/>
                          <a:cs typeface="Times New Roman"/>
                        </a:rPr>
                        <a:t>1. Fusing sensor data and text</a:t>
                      </a:r>
                    </a:p>
                  </a:txBody>
                  <a:tcPr anchor="ctr">
                    <a:solidFill>
                      <a:srgbClr val="CFCFCF"/>
                    </a:solidFill>
                  </a:tcPr>
                </a:tc>
                <a:tc>
                  <a:txBody>
                    <a:bodyPr/>
                    <a:lstStyle/>
                    <a:p>
                      <a:r>
                        <a:rPr sz="1400">
                          <a:solidFill>
                            <a:srgbClr val="000000"/>
                          </a:solidFill>
                          <a:latin typeface="Times New Roman"/>
                          <a:cs typeface="Times New Roman"/>
                        </a:rPr>
                        <a:t>Sensor Review 2024; PHM Society papers; Univ. of Vaasa thesis (NLP in IoT)</a:t>
                      </a:r>
                    </a:p>
                  </a:txBody>
                  <a:tcPr anchor="ctr">
                    <a:solidFill>
                      <a:srgbClr val="CFCFCF"/>
                    </a:solidFill>
                  </a:tcPr>
                </a:tc>
                <a:tc>
                  <a:txBody>
                    <a:bodyPr/>
                    <a:lstStyle/>
                    <a:p>
                      <a:r>
                        <a:rPr sz="1400">
                          <a:solidFill>
                            <a:srgbClr val="000000"/>
                          </a:solidFill>
                          <a:latin typeface="Times New Roman"/>
                          <a:cs typeface="Times New Roman"/>
                        </a:rPr>
                        <a:t>Early fusion beat traditional methods by 2.6–16.9%; sensor + NLP outperformed sensor-only models</a:t>
                      </a:r>
                    </a:p>
                  </a:txBody>
                  <a:tcPr anchor="ctr">
                    <a:solidFill>
                      <a:srgbClr val="CFCFCF"/>
                    </a:solidFill>
                  </a:tcPr>
                </a:tc>
                <a:extLst>
                  <a:ext uri="{0D108BD9-81ED-4DB2-BD59-A6C34878D82A}">
                    <a16:rowId xmlns:a16="http://schemas.microsoft.com/office/drawing/2014/main" val="10001"/>
                  </a:ext>
                </a:extLst>
              </a:tr>
              <a:tr h="1097280">
                <a:tc>
                  <a:txBody>
                    <a:bodyPr/>
                    <a:lstStyle/>
                    <a:p>
                      <a:r>
                        <a:rPr sz="1400">
                          <a:solidFill>
                            <a:srgbClr val="000000"/>
                          </a:solidFill>
                          <a:latin typeface="Times New Roman"/>
                          <a:cs typeface="Times New Roman"/>
                        </a:rPr>
                        <a:t>2. NLP for maintenance text</a:t>
                      </a:r>
                    </a:p>
                  </a:txBody>
                  <a:tcPr anchor="ctr">
                    <a:solidFill>
                      <a:srgbClr val="E9E9E9"/>
                    </a:solidFill>
                  </a:tcPr>
                </a:tc>
                <a:tc>
                  <a:txBody>
                    <a:bodyPr/>
                    <a:lstStyle/>
                    <a:p>
                      <a:r>
                        <a:rPr sz="1400">
                          <a:solidFill>
                            <a:srgbClr val="000000"/>
                          </a:solidFill>
                          <a:latin typeface="Times New Roman"/>
                          <a:cs typeface="Times New Roman"/>
                        </a:rPr>
                        <a:t>MaintNet (COLING 2020); NLP tools for MaintNet (AACL 2020); Brundage et al. on TLP; TLP for PHM (2024)</a:t>
                      </a:r>
                    </a:p>
                  </a:txBody>
                  <a:tcPr anchor="ctr">
                    <a:solidFill>
                      <a:srgbClr val="E9E9E9"/>
                    </a:solidFill>
                  </a:tcPr>
                </a:tc>
                <a:tc>
                  <a:txBody>
                    <a:bodyPr/>
                    <a:lstStyle/>
                    <a:p>
                      <a:r>
                        <a:rPr sz="1400">
                          <a:solidFill>
                            <a:srgbClr val="000000"/>
                          </a:solidFill>
                          <a:latin typeface="Times New Roman"/>
                          <a:cs typeface="Times New Roman"/>
                        </a:rPr>
                        <a:t>Logs use messy logbook language; standard NLP fails, so adapted methods are needed</a:t>
                      </a:r>
                    </a:p>
                  </a:txBody>
                  <a:tcPr anchor="ctr">
                    <a:solidFill>
                      <a:srgbClr val="E9E9E9"/>
                    </a:solidFill>
                  </a:tcPr>
                </a:tc>
                <a:extLst>
                  <a:ext uri="{0D108BD9-81ED-4DB2-BD59-A6C34878D82A}">
                    <a16:rowId xmlns:a16="http://schemas.microsoft.com/office/drawing/2014/main" val="10002"/>
                  </a:ext>
                </a:extLst>
              </a:tr>
              <a:tr h="1097280">
                <a:tc>
                  <a:txBody>
                    <a:bodyPr/>
                    <a:lstStyle/>
                    <a:p>
                      <a:r>
                        <a:rPr sz="1400">
                          <a:solidFill>
                            <a:srgbClr val="000000"/>
                          </a:solidFill>
                          <a:latin typeface="Times New Roman"/>
                          <a:cs typeface="Times New Roman"/>
                        </a:rPr>
                        <a:t>3. Predictive maintenance and Big Data</a:t>
                      </a:r>
                    </a:p>
                  </a:txBody>
                  <a:tcPr anchor="ctr">
                    <a:solidFill>
                      <a:srgbClr val="CFCFCF"/>
                    </a:solidFill>
                  </a:tcPr>
                </a:tc>
                <a:tc>
                  <a:txBody>
                    <a:bodyPr/>
                    <a:lstStyle/>
                    <a:p>
                      <a:r>
                        <a:rPr sz="1400">
                          <a:solidFill>
                            <a:srgbClr val="000000"/>
                          </a:solidFill>
                          <a:latin typeface="Times New Roman"/>
                          <a:cs typeface="Times New Roman"/>
                        </a:rPr>
                        <a:t>Krupitzer et al. survey; PM systems survey (arXiv); PeerJ CS 2024; Guidotti et al. review</a:t>
                      </a:r>
                    </a:p>
                  </a:txBody>
                  <a:tcPr anchor="ctr">
                    <a:solidFill>
                      <a:srgbClr val="CFCFCF"/>
                    </a:solidFill>
                  </a:tcPr>
                </a:tc>
                <a:tc>
                  <a:txBody>
                    <a:bodyPr/>
                    <a:lstStyle/>
                    <a:p>
                      <a:r>
                        <a:rPr sz="1400">
                          <a:solidFill>
                            <a:srgbClr val="000000"/>
                          </a:solidFill>
                          <a:latin typeface="Times New Roman"/>
                          <a:cs typeface="Times New Roman"/>
                        </a:rPr>
                        <a:t>Background; Big Data is a core element; public datasets are scarce, supporting the use of Kaggle data</a:t>
                      </a:r>
                    </a:p>
                  </a:txBody>
                  <a:tcPr anchor="ctr">
                    <a:solidFill>
                      <a:srgbClr val="CFCFC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Deggendorf Institute of Technology in ...">
            <a:extLst>
              <a:ext uri="{FF2B5EF4-FFF2-40B4-BE49-F238E27FC236}">
                <a16:creationId xmlns:a16="http://schemas.microsoft.com/office/drawing/2014/main" id="{CFA7B7AE-D8DF-727B-8AEF-247E1F4E68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993" b="23415"/>
          <a:stretch/>
        </p:blipFill>
        <p:spPr bwMode="auto">
          <a:xfrm>
            <a:off x="8813800" y="18255"/>
            <a:ext cx="3378200" cy="13255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320040"/>
            <a:ext cx="7589520" cy="914400"/>
          </a:xfrm>
        </p:spPr>
        <p:txBody>
          <a:bodyPr/>
          <a:lstStyle/>
          <a:p>
            <a:pPr algn="l"/>
            <a:r>
              <a:rPr sz="3600" b="1">
                <a:latin typeface="Times New Roman"/>
                <a:cs typeface="Times New Roman"/>
              </a:rPr>
              <a:t>Technology Stack:</a:t>
            </a:r>
          </a:p>
        </p:txBody>
      </p:sp>
      <p:sp>
        <p:nvSpPr>
          <p:cNvPr id="4" name="Slide Number Placeholder 3">
            <a:extLst>
              <a:ext uri="{FF2B5EF4-FFF2-40B4-BE49-F238E27FC236}">
                <a16:creationId xmlns:a16="http://schemas.microsoft.com/office/drawing/2014/main" id="{E775A794-92EA-4993-4A62-E6A5DBC7CE5F}"/>
              </a:ext>
            </a:extLst>
          </p:cNvPr>
          <p:cNvSpPr>
            <a:spLocks noGrp="1"/>
          </p:cNvSpPr>
          <p:nvPr>
            <p:ph type="sldNum" sz="quarter" idx="12"/>
          </p:nvPr>
        </p:nvSpPr>
        <p:spPr/>
        <p:txBody>
          <a:bodyPr/>
          <a:lstStyle/>
          <a:p>
            <a:fld id="{0FABFBA2-1CB6-1F4E-9BB3-885A90BDAFD4}" type="slidenum">
              <a:rPr lang="en-DE" smtClean="0"/>
              <a:t>7</a:t>
            </a:fld>
            <a:endParaRPr lang="en-US"/>
          </a:p>
        </p:txBody>
      </p:sp>
      <p:sp>
        <p:nvSpPr>
          <p:cNvPr id="5" name="Date Placeholder 4"/>
          <p:cNvSpPr>
            <a:spLocks noGrp="1"/>
          </p:cNvSpPr>
          <p:nvPr>
            <p:ph type="dt" sz="half" idx="10"/>
          </p:nvPr>
        </p:nvSpPr>
        <p:spPr/>
        <p:txBody>
          <a:bodyPr/>
          <a:lstStyle/>
          <a:p>
            <a:fld id="{2730DB47-BD66-40D3-AC58-64796F8ACBAF}" type="datetime1">
              <a:rPr lang="en-US"/>
              <a:pPr/>
              <a:t>10/20/2026</a:t>
            </a:fld>
            <a:endParaRPr lang="en-US" dirty="0"/>
          </a:p>
        </p:txBody>
      </p:sp>
      <p:sp>
        <p:nvSpPr>
          <p:cNvPr id="6" name="Footer Placeholder 5"/>
          <p:cNvSpPr>
            <a:spLocks noGrp="1"/>
          </p:cNvSpPr>
          <p:nvPr>
            <p:ph type="ftr" sz="quarter" idx="11"/>
          </p:nvPr>
        </p:nvSpPr>
        <p:spPr/>
        <p:txBody>
          <a:bodyPr/>
          <a:lstStyle/>
          <a:p>
            <a:r>
              <a:rPr lang="en-US"/>
              <a:t>Sensor–Text Fusion for Predictive Maintenance</a:t>
            </a:r>
            <a:endParaRPr lang="en-DE"/>
          </a:p>
        </p:txBody>
      </p:sp>
      <p:graphicFrame>
        <p:nvGraphicFramePr>
          <p:cNvPr id="2055" name="Table 2054"/>
          <p:cNvGraphicFramePr>
            <a:graphicFrameLocks noGrp="1"/>
          </p:cNvGraphicFramePr>
          <p:nvPr/>
        </p:nvGraphicFramePr>
        <p:xfrm>
          <a:off x="731520" y="1554480"/>
          <a:ext cx="10058400" cy="4114800"/>
        </p:xfrm>
        <a:graphic>
          <a:graphicData uri="http://schemas.openxmlformats.org/drawingml/2006/table">
            <a:tbl>
              <a:tblPr firstRow="1" bandRow="1">
                <a:tableStyleId>{5C22544A-7EE6-4342-B048-85BDC9FD1C3A}</a:tableStyleId>
              </a:tblPr>
              <a:tblGrid>
                <a:gridCol w="329184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tblGrid>
              <a:tr h="685800">
                <a:tc>
                  <a:txBody>
                    <a:bodyPr/>
                    <a:lstStyle/>
                    <a:p>
                      <a:pPr algn="ctr"/>
                      <a:r>
                        <a:rPr sz="2200" b="1">
                          <a:solidFill>
                            <a:srgbClr val="FFFFFF"/>
                          </a:solidFill>
                          <a:latin typeface="Times New Roman"/>
                          <a:cs typeface="Times New Roman"/>
                        </a:rPr>
                        <a:t>Area</a:t>
                      </a:r>
                    </a:p>
                  </a:txBody>
                  <a:tcPr anchor="ctr">
                    <a:solidFill>
                      <a:srgbClr val="000000"/>
                    </a:solidFill>
                  </a:tcPr>
                </a:tc>
                <a:tc>
                  <a:txBody>
                    <a:bodyPr/>
                    <a:lstStyle/>
                    <a:p>
                      <a:pPr algn="ctr"/>
                      <a:r>
                        <a:rPr sz="2200" b="1">
                          <a:solidFill>
                            <a:srgbClr val="FFFFFF"/>
                          </a:solidFill>
                          <a:latin typeface="Times New Roman"/>
                          <a:cs typeface="Times New Roman"/>
                        </a:rPr>
                        <a:t>Tools</a:t>
                      </a:r>
                    </a:p>
                  </a:txBody>
                  <a:tcPr anchor="ctr">
                    <a:solidFill>
                      <a:srgbClr val="000000"/>
                    </a:solidFill>
                  </a:tcPr>
                </a:tc>
                <a:extLst>
                  <a:ext uri="{0D108BD9-81ED-4DB2-BD59-A6C34878D82A}">
                    <a16:rowId xmlns:a16="http://schemas.microsoft.com/office/drawing/2014/main" val="10000"/>
                  </a:ext>
                </a:extLst>
              </a:tr>
              <a:tr h="685800">
                <a:tc>
                  <a:txBody>
                    <a:bodyPr/>
                    <a:lstStyle/>
                    <a:p>
                      <a:r>
                        <a:rPr sz="2000">
                          <a:solidFill>
                            <a:srgbClr val="000000"/>
                          </a:solidFill>
                          <a:latin typeface="Times New Roman"/>
                          <a:cs typeface="Times New Roman"/>
                        </a:rPr>
                        <a:t>Big Data processing</a:t>
                      </a:r>
                    </a:p>
                  </a:txBody>
                  <a:tcPr anchor="ctr">
                    <a:solidFill>
                      <a:srgbClr val="CFCFCF"/>
                    </a:solidFill>
                  </a:tcPr>
                </a:tc>
                <a:tc>
                  <a:txBody>
                    <a:bodyPr/>
                    <a:lstStyle/>
                    <a:p>
                      <a:r>
                        <a:rPr sz="2000">
                          <a:solidFill>
                            <a:srgbClr val="000000"/>
                          </a:solidFill>
                          <a:latin typeface="Times New Roman"/>
                          <a:cs typeface="Times New Roman"/>
                        </a:rPr>
                        <a:t>PySpark</a:t>
                      </a:r>
                    </a:p>
                  </a:txBody>
                  <a:tcPr anchor="ctr">
                    <a:solidFill>
                      <a:srgbClr val="CFCFCF"/>
                    </a:solidFill>
                  </a:tcPr>
                </a:tc>
                <a:extLst>
                  <a:ext uri="{0D108BD9-81ED-4DB2-BD59-A6C34878D82A}">
                    <a16:rowId xmlns:a16="http://schemas.microsoft.com/office/drawing/2014/main" val="10001"/>
                  </a:ext>
                </a:extLst>
              </a:tr>
              <a:tr h="685800">
                <a:tc>
                  <a:txBody>
                    <a:bodyPr/>
                    <a:lstStyle/>
                    <a:p>
                      <a:r>
                        <a:rPr sz="2000">
                          <a:solidFill>
                            <a:srgbClr val="000000"/>
                          </a:solidFill>
                          <a:latin typeface="Times New Roman"/>
                          <a:cs typeface="Times New Roman"/>
                        </a:rPr>
                        <a:t>NLP</a:t>
                      </a:r>
                    </a:p>
                  </a:txBody>
                  <a:tcPr anchor="ctr">
                    <a:solidFill>
                      <a:srgbClr val="E9E9E9"/>
                    </a:solidFill>
                  </a:tcPr>
                </a:tc>
                <a:tc>
                  <a:txBody>
                    <a:bodyPr/>
                    <a:lstStyle/>
                    <a:p>
                      <a:r>
                        <a:rPr sz="2000">
                          <a:solidFill>
                            <a:srgbClr val="000000"/>
                          </a:solidFill>
                          <a:latin typeface="Times New Roman"/>
                          <a:cs typeface="Times New Roman"/>
                        </a:rPr>
                        <a:t>spaCy or NLTK, scikit-learn (TF-IDF)</a:t>
                      </a:r>
                    </a:p>
                  </a:txBody>
                  <a:tcPr anchor="ctr">
                    <a:solidFill>
                      <a:srgbClr val="E9E9E9"/>
                    </a:solidFill>
                  </a:tcPr>
                </a:tc>
                <a:extLst>
                  <a:ext uri="{0D108BD9-81ED-4DB2-BD59-A6C34878D82A}">
                    <a16:rowId xmlns:a16="http://schemas.microsoft.com/office/drawing/2014/main" val="10002"/>
                  </a:ext>
                </a:extLst>
              </a:tr>
              <a:tr h="685800">
                <a:tc>
                  <a:txBody>
                    <a:bodyPr/>
                    <a:lstStyle/>
                    <a:p>
                      <a:r>
                        <a:rPr sz="2000">
                          <a:solidFill>
                            <a:srgbClr val="000000"/>
                          </a:solidFill>
                          <a:latin typeface="Times New Roman"/>
                          <a:cs typeface="Times New Roman"/>
                        </a:rPr>
                        <a:t>Modelling</a:t>
                      </a:r>
                    </a:p>
                  </a:txBody>
                  <a:tcPr anchor="ctr">
                    <a:solidFill>
                      <a:srgbClr val="CFCFCF"/>
                    </a:solidFill>
                  </a:tcPr>
                </a:tc>
                <a:tc>
                  <a:txBody>
                    <a:bodyPr/>
                    <a:lstStyle/>
                    <a:p>
                      <a:r>
                        <a:rPr sz="2000">
                          <a:solidFill>
                            <a:srgbClr val="000000"/>
                          </a:solidFill>
                          <a:latin typeface="Times New Roman"/>
                          <a:cs typeface="Times New Roman"/>
                        </a:rPr>
                        <a:t>scikit-learn, XGBoost</a:t>
                      </a:r>
                    </a:p>
                  </a:txBody>
                  <a:tcPr anchor="ctr">
                    <a:solidFill>
                      <a:srgbClr val="CFCFCF"/>
                    </a:solidFill>
                  </a:tcPr>
                </a:tc>
                <a:extLst>
                  <a:ext uri="{0D108BD9-81ED-4DB2-BD59-A6C34878D82A}">
                    <a16:rowId xmlns:a16="http://schemas.microsoft.com/office/drawing/2014/main" val="10003"/>
                  </a:ext>
                </a:extLst>
              </a:tr>
              <a:tr h="685800">
                <a:tc>
                  <a:txBody>
                    <a:bodyPr/>
                    <a:lstStyle/>
                    <a:p>
                      <a:r>
                        <a:rPr sz="2000">
                          <a:solidFill>
                            <a:srgbClr val="000000"/>
                          </a:solidFill>
                          <a:latin typeface="Times New Roman"/>
                          <a:cs typeface="Times New Roman"/>
                        </a:rPr>
                        <a:t>Visualisation and demo</a:t>
                      </a:r>
                    </a:p>
                  </a:txBody>
                  <a:tcPr anchor="ctr">
                    <a:solidFill>
                      <a:srgbClr val="E9E9E9"/>
                    </a:solidFill>
                  </a:tcPr>
                </a:tc>
                <a:tc>
                  <a:txBody>
                    <a:bodyPr/>
                    <a:lstStyle/>
                    <a:p>
                      <a:r>
                        <a:rPr sz="2000">
                          <a:solidFill>
                            <a:srgbClr val="000000"/>
                          </a:solidFill>
                          <a:latin typeface="Times New Roman"/>
                          <a:cs typeface="Times New Roman"/>
                        </a:rPr>
                        <a:t>matplotlib, seaborn, Streamlit</a:t>
                      </a:r>
                    </a:p>
                  </a:txBody>
                  <a:tcPr anchor="ctr">
                    <a:solidFill>
                      <a:srgbClr val="E9E9E9"/>
                    </a:solidFill>
                  </a:tcPr>
                </a:tc>
                <a:extLst>
                  <a:ext uri="{0D108BD9-81ED-4DB2-BD59-A6C34878D82A}">
                    <a16:rowId xmlns:a16="http://schemas.microsoft.com/office/drawing/2014/main" val="10004"/>
                  </a:ext>
                </a:extLst>
              </a:tr>
              <a:tr h="685800">
                <a:tc>
                  <a:txBody>
                    <a:bodyPr/>
                    <a:lstStyle/>
                    <a:p>
                      <a:r>
                        <a:rPr sz="2000">
                          <a:solidFill>
                            <a:srgbClr val="000000"/>
                          </a:solidFill>
                          <a:latin typeface="Times New Roman"/>
                          <a:cs typeface="Times New Roman"/>
                        </a:rPr>
                        <a:t>Collaboration</a:t>
                      </a:r>
                    </a:p>
                  </a:txBody>
                  <a:tcPr anchor="ctr">
                    <a:solidFill>
                      <a:srgbClr val="CFCFCF"/>
                    </a:solidFill>
                  </a:tcPr>
                </a:tc>
                <a:tc>
                  <a:txBody>
                    <a:bodyPr/>
                    <a:lstStyle/>
                    <a:p>
                      <a:r>
                        <a:rPr sz="2000">
                          <a:solidFill>
                            <a:srgbClr val="000000"/>
                          </a:solidFill>
                          <a:latin typeface="Times New Roman"/>
                          <a:cs typeface="Times New Roman"/>
                        </a:rPr>
                        <a:t>GitHub (repo, issues board), Jupyter notebooks</a:t>
                      </a:r>
                    </a:p>
                  </a:txBody>
                  <a:tcPr anchor="ctr">
                    <a:solidFill>
                      <a:srgbClr val="CFCFC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Deggendorf Institute of Technology in ...">
            <a:extLst>
              <a:ext uri="{FF2B5EF4-FFF2-40B4-BE49-F238E27FC236}">
                <a16:creationId xmlns:a16="http://schemas.microsoft.com/office/drawing/2014/main" id="{CFA7B7AE-D8DF-727B-8AEF-247E1F4E68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993" b="23415"/>
          <a:stretch/>
        </p:blipFill>
        <p:spPr bwMode="auto">
          <a:xfrm>
            <a:off x="8813800" y="18255"/>
            <a:ext cx="3378200" cy="13255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320040"/>
            <a:ext cx="7589520" cy="914400"/>
          </a:xfrm>
        </p:spPr>
        <p:txBody>
          <a:bodyPr/>
          <a:lstStyle/>
          <a:p>
            <a:pPr algn="l"/>
            <a:r>
              <a:rPr sz="3600" b="1">
                <a:latin typeface="Times New Roman"/>
                <a:cs typeface="Times New Roman"/>
              </a:rPr>
              <a:t>Project flow chart:</a:t>
            </a:r>
          </a:p>
        </p:txBody>
      </p:sp>
      <p:sp>
        <p:nvSpPr>
          <p:cNvPr id="4" name="Slide Number Placeholder 3">
            <a:extLst>
              <a:ext uri="{FF2B5EF4-FFF2-40B4-BE49-F238E27FC236}">
                <a16:creationId xmlns:a16="http://schemas.microsoft.com/office/drawing/2014/main" id="{E775A794-92EA-4993-4A62-E6A5DBC7CE5F}"/>
              </a:ext>
            </a:extLst>
          </p:cNvPr>
          <p:cNvSpPr>
            <a:spLocks noGrp="1"/>
          </p:cNvSpPr>
          <p:nvPr>
            <p:ph type="sldNum" sz="quarter" idx="12"/>
          </p:nvPr>
        </p:nvSpPr>
        <p:spPr/>
        <p:txBody>
          <a:bodyPr/>
          <a:lstStyle/>
          <a:p>
            <a:fld id="{0FABFBA2-1CB6-1F4E-9BB3-885A90BDAFD4}" type="slidenum">
              <a:rPr lang="en-DE" smtClean="0"/>
              <a:t>8</a:t>
            </a:fld>
            <a:endParaRPr lang="en-US"/>
          </a:p>
        </p:txBody>
      </p:sp>
      <p:sp>
        <p:nvSpPr>
          <p:cNvPr id="5" name="Date Placeholder 4"/>
          <p:cNvSpPr>
            <a:spLocks noGrp="1"/>
          </p:cNvSpPr>
          <p:nvPr>
            <p:ph type="dt" sz="half" idx="10"/>
          </p:nvPr>
        </p:nvSpPr>
        <p:spPr/>
        <p:txBody>
          <a:bodyPr/>
          <a:lstStyle/>
          <a:p>
            <a:fld id="{2730DB47-BD66-40D3-AC58-64796F8ACBAF}" type="datetime1">
              <a:rPr lang="en-US"/>
              <a:pPr/>
              <a:t>10/20/2026</a:t>
            </a:fld>
            <a:endParaRPr lang="en-US" dirty="0"/>
          </a:p>
        </p:txBody>
      </p:sp>
      <p:sp>
        <p:nvSpPr>
          <p:cNvPr id="6" name="Footer Placeholder 5"/>
          <p:cNvSpPr>
            <a:spLocks noGrp="1"/>
          </p:cNvSpPr>
          <p:nvPr>
            <p:ph type="ftr" sz="quarter" idx="11"/>
          </p:nvPr>
        </p:nvSpPr>
        <p:spPr/>
        <p:txBody>
          <a:bodyPr/>
          <a:lstStyle/>
          <a:p>
            <a:r>
              <a:rPr lang="en-US"/>
              <a:t>Sensor–Text Fusion for Predictive Maintenance</a:t>
            </a:r>
            <a:endParaRPr lang="en-DE"/>
          </a:p>
        </p:txBody>
      </p:sp>
      <p:pic>
        <p:nvPicPr>
          <p:cNvPr id="2055" name="Picture 2054" descr="image1.png"/>
          <p:cNvPicPr>
            <a:picLocks noChangeAspect="1"/>
          </p:cNvPicPr>
          <p:nvPr/>
        </p:nvPicPr>
        <p:blipFill>
          <a:blip r:embed="rId3"/>
          <a:stretch>
            <a:fillRect/>
          </a:stretch>
        </p:blipFill>
        <p:spPr>
          <a:xfrm>
            <a:off x="1920240" y="1417320"/>
            <a:ext cx="8268456" cy="4343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Deggendorf Institute of Technology in ...">
            <a:extLst>
              <a:ext uri="{FF2B5EF4-FFF2-40B4-BE49-F238E27FC236}">
                <a16:creationId xmlns:a16="http://schemas.microsoft.com/office/drawing/2014/main" id="{CFA7B7AE-D8DF-727B-8AEF-247E1F4E68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993" b="23415"/>
          <a:stretch/>
        </p:blipFill>
        <p:spPr bwMode="auto">
          <a:xfrm>
            <a:off x="8813800" y="18255"/>
            <a:ext cx="3378200" cy="13255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320040"/>
            <a:ext cx="7589520" cy="914400"/>
          </a:xfrm>
        </p:spPr>
        <p:txBody>
          <a:bodyPr/>
          <a:lstStyle/>
          <a:p>
            <a:pPr algn="l"/>
            <a:r>
              <a:rPr sz="3600" b="1">
                <a:latin typeface="Times New Roman"/>
                <a:cs typeface="Times New Roman"/>
              </a:rPr>
              <a:t>Working Methodology:</a:t>
            </a:r>
          </a:p>
        </p:txBody>
      </p:sp>
      <p:sp>
        <p:nvSpPr>
          <p:cNvPr id="4" name="Slide Number Placeholder 3">
            <a:extLst>
              <a:ext uri="{FF2B5EF4-FFF2-40B4-BE49-F238E27FC236}">
                <a16:creationId xmlns:a16="http://schemas.microsoft.com/office/drawing/2014/main" id="{E775A794-92EA-4993-4A62-E6A5DBC7CE5F}"/>
              </a:ext>
            </a:extLst>
          </p:cNvPr>
          <p:cNvSpPr>
            <a:spLocks noGrp="1"/>
          </p:cNvSpPr>
          <p:nvPr>
            <p:ph type="sldNum" sz="quarter" idx="12"/>
          </p:nvPr>
        </p:nvSpPr>
        <p:spPr/>
        <p:txBody>
          <a:bodyPr/>
          <a:lstStyle/>
          <a:p>
            <a:fld id="{0FABFBA2-1CB6-1F4E-9BB3-885A90BDAFD4}" type="slidenum">
              <a:rPr lang="en-DE" smtClean="0"/>
              <a:t>9</a:t>
            </a:fld>
            <a:endParaRPr lang="en-US"/>
          </a:p>
        </p:txBody>
      </p:sp>
      <p:sp>
        <p:nvSpPr>
          <p:cNvPr id="5" name="Date Placeholder 4"/>
          <p:cNvSpPr>
            <a:spLocks noGrp="1"/>
          </p:cNvSpPr>
          <p:nvPr>
            <p:ph type="dt" sz="half" idx="10"/>
          </p:nvPr>
        </p:nvSpPr>
        <p:spPr/>
        <p:txBody>
          <a:bodyPr/>
          <a:lstStyle/>
          <a:p>
            <a:fld id="{2730DB47-BD66-40D3-AC58-64796F8ACBAF}" type="datetime1">
              <a:rPr lang="en-US"/>
              <a:pPr/>
              <a:t>10/20/2026</a:t>
            </a:fld>
            <a:endParaRPr lang="en-US" dirty="0"/>
          </a:p>
        </p:txBody>
      </p:sp>
      <p:sp>
        <p:nvSpPr>
          <p:cNvPr id="6" name="Footer Placeholder 5"/>
          <p:cNvSpPr>
            <a:spLocks noGrp="1"/>
          </p:cNvSpPr>
          <p:nvPr>
            <p:ph type="ftr" sz="quarter" idx="11"/>
          </p:nvPr>
        </p:nvSpPr>
        <p:spPr/>
        <p:txBody>
          <a:bodyPr/>
          <a:lstStyle/>
          <a:p>
            <a:r>
              <a:rPr lang="en-US"/>
              <a:t>Sensor–Text Fusion for Predictive Maintenance</a:t>
            </a:r>
            <a:endParaRPr lang="en-DE"/>
          </a:p>
        </p:txBody>
      </p:sp>
      <p:sp>
        <p:nvSpPr>
          <p:cNvPr id="2055" name="Rectangle 2054"/>
          <p:cNvSpPr/>
          <p:nvPr/>
        </p:nvSpPr>
        <p:spPr>
          <a:xfrm>
            <a:off x="457200" y="1417320"/>
            <a:ext cx="5486400" cy="210312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400"/>
              </a:spcAft>
            </a:pPr>
            <a:r>
              <a:rPr sz="2000" b="1">
                <a:solidFill>
                  <a:srgbClr val="000000"/>
                </a:solidFill>
                <a:latin typeface="Times New Roman"/>
                <a:cs typeface="Times New Roman"/>
              </a:rPr>
              <a:t>Step 1: Data Preparation</a:t>
            </a:r>
          </a:p>
          <a:p>
            <a:pPr algn="l">
              <a:spcAft>
                <a:spcPts val="300"/>
              </a:spcAft>
            </a:pPr>
            <a:r>
              <a:rPr sz="1700">
                <a:solidFill>
                  <a:srgbClr val="000000"/>
                </a:solidFill>
                <a:latin typeface="Times New Roman"/>
                <a:cs typeface="Times New Roman"/>
              </a:rPr>
              <a:t>• Load Azure telemetry, errors, maintenance and failure records in PySpark</a:t>
            </a:r>
          </a:p>
          <a:p>
            <a:pPr algn="l">
              <a:spcAft>
                <a:spcPts val="300"/>
              </a:spcAft>
            </a:pPr>
            <a:r>
              <a:rPr sz="1700">
                <a:solidFill>
                  <a:srgbClr val="000000"/>
                </a:solidFill>
                <a:latin typeface="Times New Roman"/>
                <a:cs typeface="Times New Roman"/>
              </a:rPr>
              <a:t>• Build rolling 3h/24h statistics and event counts</a:t>
            </a:r>
          </a:p>
        </p:txBody>
      </p:sp>
      <p:sp>
        <p:nvSpPr>
          <p:cNvPr id="2056" name="Rectangle 2055"/>
          <p:cNvSpPr/>
          <p:nvPr/>
        </p:nvSpPr>
        <p:spPr>
          <a:xfrm>
            <a:off x="6217920" y="1417320"/>
            <a:ext cx="5486400" cy="210312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400"/>
              </a:spcAft>
            </a:pPr>
            <a:r>
              <a:rPr sz="2000" b="1">
                <a:solidFill>
                  <a:srgbClr val="000000"/>
                </a:solidFill>
                <a:latin typeface="Times New Roman"/>
                <a:cs typeface="Times New Roman"/>
              </a:rPr>
              <a:t>Step 2: NLP Model</a:t>
            </a:r>
          </a:p>
          <a:p>
            <a:pPr algn="l">
              <a:spcAft>
                <a:spcPts val="300"/>
              </a:spcAft>
            </a:pPr>
            <a:r>
              <a:rPr sz="1700">
                <a:solidFill>
                  <a:srgbClr val="000000"/>
                </a:solidFill>
                <a:latin typeface="Times New Roman"/>
                <a:cs typeface="Times New Roman"/>
              </a:rPr>
              <a:t>• Clean, lemmatize and vectorize (TF-IDF) 6,169 MaintNet logs</a:t>
            </a:r>
          </a:p>
          <a:p>
            <a:pPr algn="l">
              <a:spcAft>
                <a:spcPts val="300"/>
              </a:spcAft>
            </a:pPr>
            <a:r>
              <a:rPr sz="1700">
                <a:solidFill>
                  <a:srgbClr val="000000"/>
                </a:solidFill>
                <a:latin typeface="Times New Roman"/>
                <a:cs typeface="Times New Roman"/>
              </a:rPr>
              <a:t>• Classify faults; map to mechanical, electrical, hydraulic</a:t>
            </a:r>
          </a:p>
          <a:p>
            <a:pPr algn="l">
              <a:spcAft>
                <a:spcPts val="300"/>
              </a:spcAft>
            </a:pPr>
            <a:r>
              <a:rPr sz="1700">
                <a:solidFill>
                  <a:srgbClr val="000000"/>
                </a:solidFill>
                <a:latin typeface="Times New Roman"/>
                <a:cs typeface="Times New Roman"/>
              </a:rPr>
              <a:t>• Generate and classify logs for Azure events</a:t>
            </a:r>
          </a:p>
        </p:txBody>
      </p:sp>
      <p:sp>
        <p:nvSpPr>
          <p:cNvPr id="2057" name="Rectangle 2056"/>
          <p:cNvSpPr/>
          <p:nvPr/>
        </p:nvSpPr>
        <p:spPr>
          <a:xfrm>
            <a:off x="457200" y="3657600"/>
            <a:ext cx="5486400" cy="210312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400"/>
              </a:spcAft>
            </a:pPr>
            <a:r>
              <a:rPr sz="2000" b="1">
                <a:solidFill>
                  <a:srgbClr val="000000"/>
                </a:solidFill>
                <a:latin typeface="Times New Roman"/>
                <a:cs typeface="Times New Roman"/>
              </a:rPr>
              <a:t>Step 3: Fusion and Prediction</a:t>
            </a:r>
          </a:p>
          <a:p>
            <a:pPr algn="l">
              <a:spcAft>
                <a:spcPts val="300"/>
              </a:spcAft>
            </a:pPr>
            <a:r>
              <a:rPr sz="1700">
                <a:solidFill>
                  <a:srgbClr val="000000"/>
                </a:solidFill>
                <a:latin typeface="Times New Roman"/>
                <a:cs typeface="Times New Roman"/>
              </a:rPr>
              <a:t>• Join sensor and text features on machine ID and time</a:t>
            </a:r>
          </a:p>
          <a:p>
            <a:pPr algn="l">
              <a:spcAft>
                <a:spcPts val="300"/>
              </a:spcAft>
            </a:pPr>
            <a:r>
              <a:rPr sz="1700">
                <a:solidFill>
                  <a:srgbClr val="000000"/>
                </a:solidFill>
                <a:latin typeface="Times New Roman"/>
                <a:cs typeface="Times New Roman"/>
              </a:rPr>
              <a:t>• Train XGBoost to predict failure in the next 24 hours, on sensors only and on fused features</a:t>
            </a:r>
          </a:p>
        </p:txBody>
      </p:sp>
      <p:sp>
        <p:nvSpPr>
          <p:cNvPr id="2058" name="Rectangle 2057"/>
          <p:cNvSpPr/>
          <p:nvPr/>
        </p:nvSpPr>
        <p:spPr>
          <a:xfrm>
            <a:off x="6217920" y="3657600"/>
            <a:ext cx="5486400" cy="210312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400"/>
              </a:spcAft>
            </a:pPr>
            <a:r>
              <a:rPr sz="2000" b="1">
                <a:solidFill>
                  <a:srgbClr val="000000"/>
                </a:solidFill>
                <a:latin typeface="Times New Roman"/>
                <a:cs typeface="Times New Roman"/>
              </a:rPr>
              <a:t>Step 4: Evaluation and Demo</a:t>
            </a:r>
          </a:p>
          <a:p>
            <a:pPr algn="l">
              <a:spcAft>
                <a:spcPts val="300"/>
              </a:spcAft>
            </a:pPr>
            <a:r>
              <a:rPr sz="1700">
                <a:solidFill>
                  <a:srgbClr val="000000"/>
                </a:solidFill>
                <a:latin typeface="Times New Roman"/>
                <a:cs typeface="Times New Roman"/>
              </a:rPr>
              <a:t>• Time-based train/test split</a:t>
            </a:r>
          </a:p>
          <a:p>
            <a:pPr algn="l">
              <a:spcAft>
                <a:spcPts val="300"/>
              </a:spcAft>
            </a:pPr>
            <a:r>
              <a:rPr sz="1700">
                <a:solidFill>
                  <a:srgbClr val="000000"/>
                </a:solidFill>
                <a:latin typeface="Times New Roman"/>
                <a:cs typeface="Times New Roman"/>
              </a:rPr>
              <a:t>• Compare recall, precision, F1 and downtime avoided</a:t>
            </a:r>
          </a:p>
          <a:p>
            <a:pPr algn="l">
              <a:spcAft>
                <a:spcPts val="300"/>
              </a:spcAft>
            </a:pPr>
            <a:r>
              <a:rPr sz="1700">
                <a:solidFill>
                  <a:srgbClr val="000000"/>
                </a:solidFill>
                <a:latin typeface="Times New Roman"/>
                <a:cs typeface="Times New Roman"/>
              </a:rPr>
              <a:t>• Present results in a Streamlit demo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Deggendorf Institute of Technology in ...">
            <a:extLst>
              <a:ext uri="{FF2B5EF4-FFF2-40B4-BE49-F238E27FC236}">
                <a16:creationId xmlns:a16="http://schemas.microsoft.com/office/drawing/2014/main" id="{CFA7B7AE-D8DF-727B-8AEF-247E1F4E68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993" b="23415"/>
          <a:stretch/>
        </p:blipFill>
        <p:spPr bwMode="auto">
          <a:xfrm>
            <a:off x="8813800" y="18255"/>
            <a:ext cx="3378200" cy="13255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320040"/>
            <a:ext cx="7589520" cy="914400"/>
          </a:xfrm>
        </p:spPr>
        <p:txBody>
          <a:bodyPr/>
          <a:lstStyle/>
          <a:p>
            <a:pPr algn="l"/>
            <a:r>
              <a:rPr sz="3600" b="1">
                <a:latin typeface="Times New Roman"/>
                <a:cs typeface="Times New Roman"/>
              </a:rPr>
              <a:t>KPIs and Evaluation:</a:t>
            </a:r>
          </a:p>
        </p:txBody>
      </p:sp>
      <p:sp>
        <p:nvSpPr>
          <p:cNvPr id="3" name="Content Placeholder 2"/>
          <p:cNvSpPr>
            <a:spLocks noGrp="1"/>
          </p:cNvSpPr>
          <p:nvPr>
            <p:ph idx="1"/>
          </p:nvPr>
        </p:nvSpPr>
        <p:spPr>
          <a:xfrm>
            <a:off x="640080" y="1463040"/>
            <a:ext cx="10058400" cy="4480560"/>
          </a:xfrm>
        </p:spPr>
        <p:txBody>
          <a:bodyPr wrap="square"/>
          <a:lstStyle/>
          <a:p>
            <a:pPr marL="0" indent="0">
              <a:spcAft>
                <a:spcPts val="1000"/>
              </a:spcAft>
              <a:buNone/>
            </a:pPr>
            <a:r>
              <a:rPr sz="2100" dirty="0">
                <a:latin typeface="Times New Roman"/>
                <a:cs typeface="Times New Roman"/>
              </a:rPr>
              <a:t>Main result: sensor-only baseline vs fused sensor-plus-text model, on a time-based train/test split.</a:t>
            </a:r>
          </a:p>
          <a:p>
            <a:pPr>
              <a:spcAft>
                <a:spcPts val="1000"/>
              </a:spcAft>
            </a:pPr>
            <a:r>
              <a:rPr sz="2100" b="1" dirty="0">
                <a:latin typeface="Times New Roman"/>
                <a:cs typeface="Times New Roman"/>
              </a:rPr>
              <a:t>Recall on failures: </a:t>
            </a:r>
            <a:r>
              <a:rPr sz="2100" dirty="0">
                <a:latin typeface="Times New Roman"/>
                <a:cs typeface="Times New Roman"/>
              </a:rPr>
              <a:t>share of real failures caught (primary KPI)</a:t>
            </a:r>
          </a:p>
          <a:p>
            <a:pPr>
              <a:spcAft>
                <a:spcPts val="1000"/>
              </a:spcAft>
            </a:pPr>
            <a:r>
              <a:rPr sz="2100" b="1" dirty="0">
                <a:latin typeface="Times New Roman"/>
                <a:cs typeface="Times New Roman"/>
              </a:rPr>
              <a:t>Precision / false alarm rate: </a:t>
            </a:r>
            <a:r>
              <a:rPr sz="2100" dirty="0">
                <a:latin typeface="Times New Roman"/>
                <a:cs typeface="Times New Roman"/>
              </a:rPr>
              <a:t>share of alarms that were real failures</a:t>
            </a:r>
          </a:p>
          <a:p>
            <a:pPr>
              <a:spcAft>
                <a:spcPts val="1000"/>
              </a:spcAft>
            </a:pPr>
            <a:r>
              <a:rPr sz="2100" b="1" dirty="0">
                <a:latin typeface="Times New Roman"/>
                <a:cs typeface="Times New Roman"/>
              </a:rPr>
              <a:t>F1-score </a:t>
            </a:r>
            <a:r>
              <a:rPr sz="2100" dirty="0">
                <a:latin typeface="Times New Roman"/>
                <a:cs typeface="Times New Roman"/>
              </a:rPr>
              <a:t>per component</a:t>
            </a:r>
          </a:p>
          <a:p>
            <a:pPr>
              <a:spcAft>
                <a:spcPts val="1000"/>
              </a:spcAft>
            </a:pPr>
            <a:r>
              <a:rPr sz="2100" b="1" dirty="0">
                <a:latin typeface="Times New Roman"/>
                <a:cs typeface="Times New Roman"/>
              </a:rPr>
              <a:t>NLP classifier accuracy and F1 </a:t>
            </a:r>
            <a:r>
              <a:rPr sz="2100" dirty="0">
                <a:latin typeface="Times New Roman"/>
                <a:cs typeface="Times New Roman"/>
              </a:rPr>
              <a:t>on </a:t>
            </a:r>
            <a:r>
              <a:rPr sz="2100" dirty="0" err="1">
                <a:latin typeface="Times New Roman"/>
                <a:cs typeface="Times New Roman"/>
              </a:rPr>
              <a:t>MaintNet</a:t>
            </a:r>
            <a:r>
              <a:rPr sz="2100" dirty="0">
                <a:latin typeface="Times New Roman"/>
                <a:cs typeface="Times New Roman"/>
              </a:rPr>
              <a:t> fault categories</a:t>
            </a:r>
          </a:p>
          <a:p>
            <a:pPr>
              <a:spcAft>
                <a:spcPts val="1000"/>
              </a:spcAft>
            </a:pPr>
            <a:r>
              <a:rPr sz="2100" b="1" dirty="0">
                <a:latin typeface="Times New Roman"/>
                <a:cs typeface="Times New Roman"/>
              </a:rPr>
              <a:t>Estimated downtime avoided: </a:t>
            </a:r>
            <a:r>
              <a:rPr sz="2100" dirty="0">
                <a:latin typeface="Times New Roman"/>
                <a:cs typeface="Times New Roman"/>
              </a:rPr>
              <a:t>failures caught × average repair time</a:t>
            </a:r>
          </a:p>
        </p:txBody>
      </p:sp>
      <p:sp>
        <p:nvSpPr>
          <p:cNvPr id="4" name="Slide Number Placeholder 3">
            <a:extLst>
              <a:ext uri="{FF2B5EF4-FFF2-40B4-BE49-F238E27FC236}">
                <a16:creationId xmlns:a16="http://schemas.microsoft.com/office/drawing/2014/main" id="{E775A794-92EA-4993-4A62-E6A5DBC7CE5F}"/>
              </a:ext>
            </a:extLst>
          </p:cNvPr>
          <p:cNvSpPr>
            <a:spLocks noGrp="1"/>
          </p:cNvSpPr>
          <p:nvPr>
            <p:ph type="sldNum" sz="quarter" idx="12"/>
          </p:nvPr>
        </p:nvSpPr>
        <p:spPr/>
        <p:txBody>
          <a:bodyPr/>
          <a:lstStyle/>
          <a:p>
            <a:fld id="{0FABFBA2-1CB6-1F4E-9BB3-885A90BDAFD4}" type="slidenum">
              <a:rPr lang="en-DE" smtClean="0"/>
              <a:t>10</a:t>
            </a:fld>
            <a:endParaRPr lang="en-US"/>
          </a:p>
        </p:txBody>
      </p:sp>
      <p:sp>
        <p:nvSpPr>
          <p:cNvPr id="5" name="Date Placeholder 4"/>
          <p:cNvSpPr>
            <a:spLocks noGrp="1"/>
          </p:cNvSpPr>
          <p:nvPr>
            <p:ph type="dt" sz="half" idx="10"/>
          </p:nvPr>
        </p:nvSpPr>
        <p:spPr/>
        <p:txBody>
          <a:bodyPr/>
          <a:lstStyle/>
          <a:p>
            <a:fld id="{2730DB47-BD66-40D3-AC58-64796F8ACBAF}" type="datetime1">
              <a:rPr lang="en-US"/>
              <a:pPr/>
              <a:t>10/20/2026</a:t>
            </a:fld>
            <a:endParaRPr lang="en-US" dirty="0"/>
          </a:p>
        </p:txBody>
      </p:sp>
      <p:sp>
        <p:nvSpPr>
          <p:cNvPr id="6" name="Footer Placeholder 5"/>
          <p:cNvSpPr>
            <a:spLocks noGrp="1"/>
          </p:cNvSpPr>
          <p:nvPr>
            <p:ph type="ftr" sz="quarter" idx="11"/>
          </p:nvPr>
        </p:nvSpPr>
        <p:spPr/>
        <p:txBody>
          <a:bodyPr/>
          <a:lstStyle/>
          <a:p>
            <a:r>
              <a:rPr lang="en-US"/>
              <a:t>Sensor–Text Fusion for Predictive Maintenance</a:t>
            </a:r>
            <a:endParaRPr lang="en-D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Deggendorf Institute of Technology in ...">
            <a:extLst>
              <a:ext uri="{FF2B5EF4-FFF2-40B4-BE49-F238E27FC236}">
                <a16:creationId xmlns:a16="http://schemas.microsoft.com/office/drawing/2014/main" id="{CFA7B7AE-D8DF-727B-8AEF-247E1F4E68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993" b="23415"/>
          <a:stretch/>
        </p:blipFill>
        <p:spPr bwMode="auto">
          <a:xfrm>
            <a:off x="8813800" y="18255"/>
            <a:ext cx="3378200" cy="13255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320040"/>
            <a:ext cx="7589520" cy="914400"/>
          </a:xfrm>
        </p:spPr>
        <p:txBody>
          <a:bodyPr/>
          <a:lstStyle/>
          <a:p>
            <a:pPr algn="l"/>
            <a:r>
              <a:rPr sz="3600" b="1">
                <a:latin typeface="Times New Roman"/>
                <a:cs typeface="Times New Roman"/>
              </a:rPr>
              <a:t>Risks and Limitations:</a:t>
            </a:r>
          </a:p>
        </p:txBody>
      </p:sp>
      <p:sp>
        <p:nvSpPr>
          <p:cNvPr id="4" name="Slide Number Placeholder 3">
            <a:extLst>
              <a:ext uri="{FF2B5EF4-FFF2-40B4-BE49-F238E27FC236}">
                <a16:creationId xmlns:a16="http://schemas.microsoft.com/office/drawing/2014/main" id="{E775A794-92EA-4993-4A62-E6A5DBC7CE5F}"/>
              </a:ext>
            </a:extLst>
          </p:cNvPr>
          <p:cNvSpPr>
            <a:spLocks noGrp="1"/>
          </p:cNvSpPr>
          <p:nvPr>
            <p:ph type="sldNum" sz="quarter" idx="12"/>
          </p:nvPr>
        </p:nvSpPr>
        <p:spPr/>
        <p:txBody>
          <a:bodyPr/>
          <a:lstStyle/>
          <a:p>
            <a:fld id="{0FABFBA2-1CB6-1F4E-9BB3-885A90BDAFD4}" type="slidenum">
              <a:rPr lang="en-DE" smtClean="0"/>
              <a:t>11</a:t>
            </a:fld>
            <a:endParaRPr lang="en-US"/>
          </a:p>
        </p:txBody>
      </p:sp>
      <p:sp>
        <p:nvSpPr>
          <p:cNvPr id="5" name="Date Placeholder 4"/>
          <p:cNvSpPr>
            <a:spLocks noGrp="1"/>
          </p:cNvSpPr>
          <p:nvPr>
            <p:ph type="dt" sz="half" idx="10"/>
          </p:nvPr>
        </p:nvSpPr>
        <p:spPr/>
        <p:txBody>
          <a:bodyPr/>
          <a:lstStyle/>
          <a:p>
            <a:fld id="{2730DB47-BD66-40D3-AC58-64796F8ACBAF}" type="datetime1">
              <a:rPr lang="en-US"/>
              <a:pPr/>
              <a:t>10/20/2026</a:t>
            </a:fld>
            <a:endParaRPr lang="en-US" dirty="0"/>
          </a:p>
        </p:txBody>
      </p:sp>
      <p:sp>
        <p:nvSpPr>
          <p:cNvPr id="6" name="Footer Placeholder 5"/>
          <p:cNvSpPr>
            <a:spLocks noGrp="1"/>
          </p:cNvSpPr>
          <p:nvPr>
            <p:ph type="ftr" sz="quarter" idx="11"/>
          </p:nvPr>
        </p:nvSpPr>
        <p:spPr/>
        <p:txBody>
          <a:bodyPr/>
          <a:lstStyle/>
          <a:p>
            <a:r>
              <a:rPr lang="en-US"/>
              <a:t>Sensor–Text Fusion for Predictive Maintenance</a:t>
            </a:r>
            <a:endParaRPr lang="en-DE"/>
          </a:p>
        </p:txBody>
      </p:sp>
      <p:graphicFrame>
        <p:nvGraphicFramePr>
          <p:cNvPr id="2055" name="Table 2054"/>
          <p:cNvGraphicFramePr>
            <a:graphicFrameLocks noGrp="1"/>
          </p:cNvGraphicFramePr>
          <p:nvPr/>
        </p:nvGraphicFramePr>
        <p:xfrm>
          <a:off x="457200" y="1463040"/>
          <a:ext cx="11247120" cy="411480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20000"/>
                    </a:ext>
                  </a:extLst>
                </a:gridCol>
                <a:gridCol w="6675120">
                  <a:extLst>
                    <a:ext uri="{9D8B030D-6E8A-4147-A177-3AD203B41FA5}">
                      <a16:colId xmlns:a16="http://schemas.microsoft.com/office/drawing/2014/main" val="20001"/>
                    </a:ext>
                  </a:extLst>
                </a:gridCol>
              </a:tblGrid>
              <a:tr h="822960">
                <a:tc>
                  <a:txBody>
                    <a:bodyPr/>
                    <a:lstStyle/>
                    <a:p>
                      <a:pPr algn="ctr"/>
                      <a:r>
                        <a:rPr sz="1900" b="1">
                          <a:solidFill>
                            <a:srgbClr val="FFFFFF"/>
                          </a:solidFill>
                          <a:latin typeface="Times New Roman"/>
                          <a:cs typeface="Times New Roman"/>
                        </a:rPr>
                        <a:t>Risk</a:t>
                      </a:r>
                    </a:p>
                  </a:txBody>
                  <a:tcPr anchor="ctr">
                    <a:solidFill>
                      <a:srgbClr val="000000"/>
                    </a:solidFill>
                  </a:tcPr>
                </a:tc>
                <a:tc>
                  <a:txBody>
                    <a:bodyPr/>
                    <a:lstStyle/>
                    <a:p>
                      <a:pPr algn="ctr"/>
                      <a:r>
                        <a:rPr sz="1900" b="1">
                          <a:solidFill>
                            <a:srgbClr val="FFFFFF"/>
                          </a:solidFill>
                          <a:latin typeface="Times New Roman"/>
                          <a:cs typeface="Times New Roman"/>
                        </a:rPr>
                        <a:t>Mitigation</a:t>
                      </a:r>
                    </a:p>
                  </a:txBody>
                  <a:tcPr anchor="ctr">
                    <a:solidFill>
                      <a:srgbClr val="000000"/>
                    </a:solidFill>
                  </a:tcPr>
                </a:tc>
                <a:extLst>
                  <a:ext uri="{0D108BD9-81ED-4DB2-BD59-A6C34878D82A}">
                    <a16:rowId xmlns:a16="http://schemas.microsoft.com/office/drawing/2014/main" val="10000"/>
                  </a:ext>
                </a:extLst>
              </a:tr>
              <a:tr h="822960">
                <a:tc>
                  <a:txBody>
                    <a:bodyPr/>
                    <a:lstStyle/>
                    <a:p>
                      <a:r>
                        <a:rPr sz="1600">
                          <a:solidFill>
                            <a:srgbClr val="000000"/>
                          </a:solidFill>
                          <a:latin typeface="Times New Roman"/>
                          <a:cs typeface="Times New Roman"/>
                        </a:rPr>
                        <a:t>Text logs for Azure machines are semi-synthetic</a:t>
                      </a:r>
                    </a:p>
                  </a:txBody>
                  <a:tcPr anchor="ctr">
                    <a:solidFill>
                      <a:srgbClr val="CFCFCF"/>
                    </a:solidFill>
                  </a:tcPr>
                </a:tc>
                <a:tc>
                  <a:txBody>
                    <a:bodyPr/>
                    <a:lstStyle/>
                    <a:p>
                      <a:r>
                        <a:rPr sz="1600">
                          <a:solidFill>
                            <a:srgbClr val="000000"/>
                          </a:solidFill>
                          <a:latin typeface="Times New Roman"/>
                          <a:cs typeface="Times New Roman"/>
                        </a:rPr>
                        <a:t>Train NLP on real MaintNet text; report the generation method openly; ask the lecturer about real factory logs</a:t>
                      </a:r>
                    </a:p>
                  </a:txBody>
                  <a:tcPr anchor="ctr">
                    <a:solidFill>
                      <a:srgbClr val="CFCFCF"/>
                    </a:solidFill>
                  </a:tcPr>
                </a:tc>
                <a:extLst>
                  <a:ext uri="{0D108BD9-81ED-4DB2-BD59-A6C34878D82A}">
                    <a16:rowId xmlns:a16="http://schemas.microsoft.com/office/drawing/2014/main" val="10001"/>
                  </a:ext>
                </a:extLst>
              </a:tr>
              <a:tr h="822960">
                <a:tc>
                  <a:txBody>
                    <a:bodyPr/>
                    <a:lstStyle/>
                    <a:p>
                      <a:r>
                        <a:rPr sz="1600">
                          <a:solidFill>
                            <a:srgbClr val="000000"/>
                          </a:solidFill>
                          <a:latin typeface="Times New Roman"/>
                          <a:cs typeface="Times New Roman"/>
                        </a:rPr>
                        <a:t>Azure sensor data is simulated</a:t>
                      </a:r>
                    </a:p>
                  </a:txBody>
                  <a:tcPr anchor="ctr">
                    <a:solidFill>
                      <a:srgbClr val="E9E9E9"/>
                    </a:solidFill>
                  </a:tcPr>
                </a:tc>
                <a:tc>
                  <a:txBody>
                    <a:bodyPr/>
                    <a:lstStyle/>
                    <a:p>
                      <a:r>
                        <a:rPr sz="1600">
                          <a:solidFill>
                            <a:srgbClr val="000000"/>
                          </a:solidFill>
                          <a:latin typeface="Times New Roman"/>
                          <a:cs typeface="Times New Roman"/>
                        </a:rPr>
                        <a:t>Treat results as proof of concept; name it under limitations</a:t>
                      </a:r>
                    </a:p>
                  </a:txBody>
                  <a:tcPr anchor="ctr">
                    <a:solidFill>
                      <a:srgbClr val="E9E9E9"/>
                    </a:solidFill>
                  </a:tcPr>
                </a:tc>
                <a:extLst>
                  <a:ext uri="{0D108BD9-81ED-4DB2-BD59-A6C34878D82A}">
                    <a16:rowId xmlns:a16="http://schemas.microsoft.com/office/drawing/2014/main" val="10002"/>
                  </a:ext>
                </a:extLst>
              </a:tr>
              <a:tr h="822960">
                <a:tc>
                  <a:txBody>
                    <a:bodyPr/>
                    <a:lstStyle/>
                    <a:p>
                      <a:r>
                        <a:rPr sz="1600">
                          <a:solidFill>
                            <a:srgbClr val="000000"/>
                          </a:solidFill>
                          <a:latin typeface="Times New Roman"/>
                          <a:cs typeface="Times New Roman"/>
                        </a:rPr>
                        <a:t>Failures are rare (class imbalance)</a:t>
                      </a:r>
                    </a:p>
                  </a:txBody>
                  <a:tcPr anchor="ctr">
                    <a:solidFill>
                      <a:srgbClr val="CFCFCF"/>
                    </a:solidFill>
                  </a:tcPr>
                </a:tc>
                <a:tc>
                  <a:txBody>
                    <a:bodyPr/>
                    <a:lstStyle/>
                    <a:p>
                      <a:r>
                        <a:rPr sz="1600">
                          <a:solidFill>
                            <a:srgbClr val="000000"/>
                          </a:solidFill>
                          <a:latin typeface="Times New Roman"/>
                          <a:cs typeface="Times New Roman"/>
                        </a:rPr>
                        <a:t>Use class weights or resampling; report recall, not only accuracy</a:t>
                      </a:r>
                    </a:p>
                  </a:txBody>
                  <a:tcPr anchor="ctr">
                    <a:solidFill>
                      <a:srgbClr val="CFCFCF"/>
                    </a:solidFill>
                  </a:tcPr>
                </a:tc>
                <a:extLst>
                  <a:ext uri="{0D108BD9-81ED-4DB2-BD59-A6C34878D82A}">
                    <a16:rowId xmlns:a16="http://schemas.microsoft.com/office/drawing/2014/main" val="10003"/>
                  </a:ext>
                </a:extLst>
              </a:tr>
              <a:tr h="822960">
                <a:tc>
                  <a:txBody>
                    <a:bodyPr/>
                    <a:lstStyle/>
                    <a:p>
                      <a:r>
                        <a:rPr sz="1600">
                          <a:solidFill>
                            <a:srgbClr val="000000"/>
                          </a:solidFill>
                          <a:latin typeface="Times New Roman"/>
                          <a:cs typeface="Times New Roman"/>
                        </a:rPr>
                        <a:t>Domain gap between aviation text and factory machines</a:t>
                      </a:r>
                    </a:p>
                  </a:txBody>
                  <a:tcPr anchor="ctr">
                    <a:solidFill>
                      <a:srgbClr val="E9E9E9"/>
                    </a:solidFill>
                  </a:tcPr>
                </a:tc>
                <a:tc>
                  <a:txBody>
                    <a:bodyPr/>
                    <a:lstStyle/>
                    <a:p>
                      <a:r>
                        <a:rPr sz="1600">
                          <a:solidFill>
                            <a:srgbClr val="000000"/>
                          </a:solidFill>
                          <a:latin typeface="Times New Roman"/>
                          <a:cs typeface="Times New Roman"/>
                        </a:rPr>
                        <a:t>Map MaintNet categories to generic fault types (mechanical, electrical, hydraulic)</a:t>
                      </a:r>
                    </a:p>
                  </a:txBody>
                  <a:tcPr anchor="ctr">
                    <a:solidFill>
                      <a:srgbClr val="E9E9E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Deggendorf Institute of Technology in ...">
            <a:extLst>
              <a:ext uri="{FF2B5EF4-FFF2-40B4-BE49-F238E27FC236}">
                <a16:creationId xmlns:a16="http://schemas.microsoft.com/office/drawing/2014/main" id="{CFA7B7AE-D8DF-727B-8AEF-247E1F4E68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993" b="23415"/>
          <a:stretch/>
        </p:blipFill>
        <p:spPr bwMode="auto">
          <a:xfrm>
            <a:off x="8813800" y="18255"/>
            <a:ext cx="3378200" cy="13255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320040"/>
            <a:ext cx="7589520" cy="914400"/>
          </a:xfrm>
        </p:spPr>
        <p:txBody>
          <a:bodyPr/>
          <a:lstStyle/>
          <a:p>
            <a:pPr algn="l"/>
            <a:r>
              <a:rPr sz="3600" b="1">
                <a:latin typeface="Times New Roman"/>
                <a:cs typeface="Times New Roman"/>
              </a:rPr>
              <a:t>Bill of Materials (BOM):</a:t>
            </a:r>
          </a:p>
        </p:txBody>
      </p:sp>
      <p:sp>
        <p:nvSpPr>
          <p:cNvPr id="4" name="Slide Number Placeholder 3">
            <a:extLst>
              <a:ext uri="{FF2B5EF4-FFF2-40B4-BE49-F238E27FC236}">
                <a16:creationId xmlns:a16="http://schemas.microsoft.com/office/drawing/2014/main" id="{E775A794-92EA-4993-4A62-E6A5DBC7CE5F}"/>
              </a:ext>
            </a:extLst>
          </p:cNvPr>
          <p:cNvSpPr>
            <a:spLocks noGrp="1"/>
          </p:cNvSpPr>
          <p:nvPr>
            <p:ph type="sldNum" sz="quarter" idx="12"/>
          </p:nvPr>
        </p:nvSpPr>
        <p:spPr/>
        <p:txBody>
          <a:bodyPr/>
          <a:lstStyle/>
          <a:p>
            <a:fld id="{0FABFBA2-1CB6-1F4E-9BB3-885A90BDAFD4}" type="slidenum">
              <a:rPr lang="en-DE" smtClean="0"/>
              <a:t>12</a:t>
            </a:fld>
            <a:endParaRPr lang="en-US"/>
          </a:p>
        </p:txBody>
      </p:sp>
      <p:sp>
        <p:nvSpPr>
          <p:cNvPr id="5" name="Date Placeholder 4"/>
          <p:cNvSpPr>
            <a:spLocks noGrp="1"/>
          </p:cNvSpPr>
          <p:nvPr>
            <p:ph type="dt" sz="half" idx="10"/>
          </p:nvPr>
        </p:nvSpPr>
        <p:spPr/>
        <p:txBody>
          <a:bodyPr/>
          <a:lstStyle/>
          <a:p>
            <a:fld id="{2730DB47-BD66-40D3-AC58-64796F8ACBAF}" type="datetime1">
              <a:rPr lang="en-US"/>
              <a:pPr/>
              <a:t>10/20/2026</a:t>
            </a:fld>
            <a:endParaRPr lang="en-US" dirty="0"/>
          </a:p>
        </p:txBody>
      </p:sp>
      <p:sp>
        <p:nvSpPr>
          <p:cNvPr id="6" name="Footer Placeholder 5"/>
          <p:cNvSpPr>
            <a:spLocks noGrp="1"/>
          </p:cNvSpPr>
          <p:nvPr>
            <p:ph type="ftr" sz="quarter" idx="11"/>
          </p:nvPr>
        </p:nvSpPr>
        <p:spPr/>
        <p:txBody>
          <a:bodyPr/>
          <a:lstStyle/>
          <a:p>
            <a:r>
              <a:rPr lang="en-US"/>
              <a:t>Sensor–Text Fusion for Predictive Maintenance</a:t>
            </a:r>
            <a:endParaRPr lang="en-DE"/>
          </a:p>
        </p:txBody>
      </p:sp>
      <p:graphicFrame>
        <p:nvGraphicFramePr>
          <p:cNvPr id="2055" name="Table 2054"/>
          <p:cNvGraphicFramePr>
            <a:graphicFrameLocks noGrp="1"/>
          </p:cNvGraphicFramePr>
          <p:nvPr>
            <p:extLst>
              <p:ext uri="{D42A27DB-BD31-4B8C-83A1-F6EECF244321}">
                <p14:modId xmlns:p14="http://schemas.microsoft.com/office/powerpoint/2010/main" val="1718250"/>
              </p:ext>
            </p:extLst>
          </p:nvPr>
        </p:nvGraphicFramePr>
        <p:xfrm>
          <a:off x="548640" y="1554480"/>
          <a:ext cx="10972799" cy="3657600"/>
        </p:xfrm>
        <a:graphic>
          <a:graphicData uri="http://schemas.openxmlformats.org/drawingml/2006/table">
            <a:tbl>
              <a:tblPr firstRow="1" bandRow="1">
                <a:tableStyleId>{5C22544A-7EE6-4342-B048-85BDC9FD1C3A}</a:tableStyleId>
              </a:tblPr>
              <a:tblGrid>
                <a:gridCol w="2502568">
                  <a:extLst>
                    <a:ext uri="{9D8B030D-6E8A-4147-A177-3AD203B41FA5}">
                      <a16:colId xmlns:a16="http://schemas.microsoft.com/office/drawing/2014/main" val="20000"/>
                    </a:ext>
                  </a:extLst>
                </a:gridCol>
                <a:gridCol w="5390147">
                  <a:extLst>
                    <a:ext uri="{9D8B030D-6E8A-4147-A177-3AD203B41FA5}">
                      <a16:colId xmlns:a16="http://schemas.microsoft.com/office/drawing/2014/main" val="20001"/>
                    </a:ext>
                  </a:extLst>
                </a:gridCol>
                <a:gridCol w="1540042">
                  <a:extLst>
                    <a:ext uri="{9D8B030D-6E8A-4147-A177-3AD203B41FA5}">
                      <a16:colId xmlns:a16="http://schemas.microsoft.com/office/drawing/2014/main" val="20002"/>
                    </a:ext>
                  </a:extLst>
                </a:gridCol>
                <a:gridCol w="1540042">
                  <a:extLst>
                    <a:ext uri="{9D8B030D-6E8A-4147-A177-3AD203B41FA5}">
                      <a16:colId xmlns:a16="http://schemas.microsoft.com/office/drawing/2014/main" val="20003"/>
                    </a:ext>
                  </a:extLst>
                </a:gridCol>
              </a:tblGrid>
              <a:tr h="731520">
                <a:tc>
                  <a:txBody>
                    <a:bodyPr/>
                    <a:lstStyle/>
                    <a:p>
                      <a:pPr algn="ctr"/>
                      <a:r>
                        <a:rPr sz="2000" b="1">
                          <a:solidFill>
                            <a:srgbClr val="FFFFFF"/>
                          </a:solidFill>
                          <a:latin typeface="Times New Roman"/>
                          <a:cs typeface="Times New Roman"/>
                        </a:rPr>
                        <a:t>Component</a:t>
                      </a:r>
                    </a:p>
                  </a:txBody>
                  <a:tcPr anchor="ctr">
                    <a:solidFill>
                      <a:srgbClr val="000000"/>
                    </a:solidFill>
                  </a:tcPr>
                </a:tc>
                <a:tc>
                  <a:txBody>
                    <a:bodyPr/>
                    <a:lstStyle/>
                    <a:p>
                      <a:pPr algn="ctr"/>
                      <a:r>
                        <a:rPr sz="2000" b="1">
                          <a:solidFill>
                            <a:srgbClr val="FFFFFF"/>
                          </a:solidFill>
                          <a:latin typeface="Times New Roman"/>
                          <a:cs typeface="Times New Roman"/>
                        </a:rPr>
                        <a:t>Specifications</a:t>
                      </a:r>
                    </a:p>
                  </a:txBody>
                  <a:tcPr anchor="ctr">
                    <a:solidFill>
                      <a:srgbClr val="000000"/>
                    </a:solidFill>
                  </a:tcPr>
                </a:tc>
                <a:tc>
                  <a:txBody>
                    <a:bodyPr/>
                    <a:lstStyle/>
                    <a:p>
                      <a:pPr algn="ctr"/>
                      <a:r>
                        <a:rPr sz="2000" b="1">
                          <a:solidFill>
                            <a:srgbClr val="FFFFFF"/>
                          </a:solidFill>
                          <a:latin typeface="Times New Roman"/>
                          <a:cs typeface="Times New Roman"/>
                        </a:rPr>
                        <a:t>Quantity</a:t>
                      </a:r>
                    </a:p>
                  </a:txBody>
                  <a:tcPr anchor="ctr">
                    <a:solidFill>
                      <a:srgbClr val="000000"/>
                    </a:solidFill>
                  </a:tcPr>
                </a:tc>
                <a:tc>
                  <a:txBody>
                    <a:bodyPr/>
                    <a:lstStyle/>
                    <a:p>
                      <a:pPr algn="ctr"/>
                      <a:r>
                        <a:rPr sz="2000" b="1">
                          <a:solidFill>
                            <a:srgbClr val="FFFFFF"/>
                          </a:solidFill>
                          <a:latin typeface="Times New Roman"/>
                          <a:cs typeface="Times New Roman"/>
                        </a:rPr>
                        <a:t>Cost</a:t>
                      </a:r>
                    </a:p>
                  </a:txBody>
                  <a:tcPr anchor="ctr">
                    <a:solidFill>
                      <a:srgbClr val="000000"/>
                    </a:solidFill>
                  </a:tcPr>
                </a:tc>
                <a:extLst>
                  <a:ext uri="{0D108BD9-81ED-4DB2-BD59-A6C34878D82A}">
                    <a16:rowId xmlns:a16="http://schemas.microsoft.com/office/drawing/2014/main" val="10000"/>
                  </a:ext>
                </a:extLst>
              </a:tr>
              <a:tr h="731520">
                <a:tc>
                  <a:txBody>
                    <a:bodyPr/>
                    <a:lstStyle/>
                    <a:p>
                      <a:r>
                        <a:rPr sz="1800">
                          <a:solidFill>
                            <a:srgbClr val="000000"/>
                          </a:solidFill>
                          <a:latin typeface="Times New Roman"/>
                          <a:cs typeface="Times New Roman"/>
                        </a:rPr>
                        <a:t>Sensor dataset</a:t>
                      </a:r>
                    </a:p>
                  </a:txBody>
                  <a:tcPr anchor="ctr">
                    <a:solidFill>
                      <a:srgbClr val="CFCFCF"/>
                    </a:solidFill>
                  </a:tcPr>
                </a:tc>
                <a:tc>
                  <a:txBody>
                    <a:bodyPr/>
                    <a:lstStyle/>
                    <a:p>
                      <a:r>
                        <a:rPr sz="1800">
                          <a:solidFill>
                            <a:srgbClr val="000000"/>
                          </a:solidFill>
                          <a:latin typeface="Times New Roman"/>
                          <a:cs typeface="Times New Roman"/>
                        </a:rPr>
                        <a:t>Microsoft Azure Predictive Maintenance (Kaggle)</a:t>
                      </a:r>
                    </a:p>
                  </a:txBody>
                  <a:tcPr anchor="ctr">
                    <a:solidFill>
                      <a:srgbClr val="CFCFCF"/>
                    </a:solidFill>
                  </a:tcPr>
                </a:tc>
                <a:tc>
                  <a:txBody>
                    <a:bodyPr/>
                    <a:lstStyle/>
                    <a:p>
                      <a:r>
                        <a:rPr sz="1800">
                          <a:solidFill>
                            <a:srgbClr val="000000"/>
                          </a:solidFill>
                          <a:latin typeface="Times New Roman"/>
                          <a:cs typeface="Times New Roman"/>
                        </a:rPr>
                        <a:t>1</a:t>
                      </a:r>
                    </a:p>
                  </a:txBody>
                  <a:tcPr anchor="ctr">
                    <a:solidFill>
                      <a:srgbClr val="CFCFCF"/>
                    </a:solidFill>
                  </a:tcPr>
                </a:tc>
                <a:tc>
                  <a:txBody>
                    <a:bodyPr/>
                    <a:lstStyle/>
                    <a:p>
                      <a:r>
                        <a:rPr sz="1800">
                          <a:solidFill>
                            <a:srgbClr val="000000"/>
                          </a:solidFill>
                          <a:latin typeface="Times New Roman"/>
                          <a:cs typeface="Times New Roman"/>
                        </a:rPr>
                        <a:t>Free</a:t>
                      </a:r>
                    </a:p>
                  </a:txBody>
                  <a:tcPr anchor="ctr">
                    <a:solidFill>
                      <a:srgbClr val="CFCFCF"/>
                    </a:solidFill>
                  </a:tcPr>
                </a:tc>
                <a:extLst>
                  <a:ext uri="{0D108BD9-81ED-4DB2-BD59-A6C34878D82A}">
                    <a16:rowId xmlns:a16="http://schemas.microsoft.com/office/drawing/2014/main" val="10001"/>
                  </a:ext>
                </a:extLst>
              </a:tr>
              <a:tr h="731520">
                <a:tc>
                  <a:txBody>
                    <a:bodyPr/>
                    <a:lstStyle/>
                    <a:p>
                      <a:r>
                        <a:rPr sz="1800">
                          <a:solidFill>
                            <a:srgbClr val="000000"/>
                          </a:solidFill>
                          <a:latin typeface="Times New Roman"/>
                          <a:cs typeface="Times New Roman"/>
                        </a:rPr>
                        <a:t>Text dataset</a:t>
                      </a:r>
                    </a:p>
                  </a:txBody>
                  <a:tcPr anchor="ctr">
                    <a:solidFill>
                      <a:srgbClr val="E9E9E9"/>
                    </a:solidFill>
                  </a:tcPr>
                </a:tc>
                <a:tc>
                  <a:txBody>
                    <a:bodyPr/>
                    <a:lstStyle/>
                    <a:p>
                      <a:r>
                        <a:rPr sz="1800">
                          <a:solidFill>
                            <a:srgbClr val="000000"/>
                          </a:solidFill>
                          <a:latin typeface="Times New Roman"/>
                          <a:cs typeface="Times New Roman"/>
                        </a:rPr>
                        <a:t>Aircraft Historical Maintenance – MaintNet (Kaggle)</a:t>
                      </a:r>
                    </a:p>
                  </a:txBody>
                  <a:tcPr anchor="ctr">
                    <a:solidFill>
                      <a:srgbClr val="E9E9E9"/>
                    </a:solidFill>
                  </a:tcPr>
                </a:tc>
                <a:tc>
                  <a:txBody>
                    <a:bodyPr/>
                    <a:lstStyle/>
                    <a:p>
                      <a:r>
                        <a:rPr sz="1800">
                          <a:solidFill>
                            <a:srgbClr val="000000"/>
                          </a:solidFill>
                          <a:latin typeface="Times New Roman"/>
                          <a:cs typeface="Times New Roman"/>
                        </a:rPr>
                        <a:t>1</a:t>
                      </a:r>
                    </a:p>
                  </a:txBody>
                  <a:tcPr anchor="ctr">
                    <a:solidFill>
                      <a:srgbClr val="E9E9E9"/>
                    </a:solidFill>
                  </a:tcPr>
                </a:tc>
                <a:tc>
                  <a:txBody>
                    <a:bodyPr/>
                    <a:lstStyle/>
                    <a:p>
                      <a:r>
                        <a:rPr sz="1800">
                          <a:solidFill>
                            <a:srgbClr val="000000"/>
                          </a:solidFill>
                          <a:latin typeface="Times New Roman"/>
                          <a:cs typeface="Times New Roman"/>
                        </a:rPr>
                        <a:t>Free</a:t>
                      </a:r>
                    </a:p>
                  </a:txBody>
                  <a:tcPr anchor="ctr">
                    <a:solidFill>
                      <a:srgbClr val="E9E9E9"/>
                    </a:solidFill>
                  </a:tcPr>
                </a:tc>
                <a:extLst>
                  <a:ext uri="{0D108BD9-81ED-4DB2-BD59-A6C34878D82A}">
                    <a16:rowId xmlns:a16="http://schemas.microsoft.com/office/drawing/2014/main" val="10002"/>
                  </a:ext>
                </a:extLst>
              </a:tr>
              <a:tr h="731520">
                <a:tc>
                  <a:txBody>
                    <a:bodyPr/>
                    <a:lstStyle/>
                    <a:p>
                      <a:r>
                        <a:rPr sz="1800">
                          <a:solidFill>
                            <a:srgbClr val="000000"/>
                          </a:solidFill>
                          <a:latin typeface="Times New Roman"/>
                          <a:cs typeface="Times New Roman"/>
                        </a:rPr>
                        <a:t>Software</a:t>
                      </a:r>
                    </a:p>
                  </a:txBody>
                  <a:tcPr anchor="ctr">
                    <a:solidFill>
                      <a:srgbClr val="CFCFCF"/>
                    </a:solidFill>
                  </a:tcPr>
                </a:tc>
                <a:tc>
                  <a:txBody>
                    <a:bodyPr/>
                    <a:lstStyle/>
                    <a:p>
                      <a:r>
                        <a:rPr sz="1800" dirty="0">
                          <a:solidFill>
                            <a:srgbClr val="000000"/>
                          </a:solidFill>
                          <a:latin typeface="Times New Roman"/>
                          <a:cs typeface="Times New Roman"/>
                        </a:rPr>
                        <a:t>Open source (</a:t>
                      </a:r>
                      <a:r>
                        <a:rPr sz="1800" dirty="0" err="1">
                          <a:solidFill>
                            <a:srgbClr val="000000"/>
                          </a:solidFill>
                          <a:latin typeface="Times New Roman"/>
                          <a:cs typeface="Times New Roman"/>
                        </a:rPr>
                        <a:t>PySpark</a:t>
                      </a:r>
                      <a:r>
                        <a:rPr sz="1800" dirty="0">
                          <a:solidFill>
                            <a:srgbClr val="000000"/>
                          </a:solidFill>
                          <a:latin typeface="Times New Roman"/>
                          <a:cs typeface="Times New Roman"/>
                        </a:rPr>
                        <a:t>, scikit-learn, </a:t>
                      </a:r>
                      <a:r>
                        <a:rPr sz="1800" dirty="0" err="1">
                          <a:solidFill>
                            <a:srgbClr val="000000"/>
                          </a:solidFill>
                          <a:latin typeface="Times New Roman"/>
                          <a:cs typeface="Times New Roman"/>
                        </a:rPr>
                        <a:t>XGBoost</a:t>
                      </a:r>
                      <a:r>
                        <a:rPr sz="1800" dirty="0">
                          <a:solidFill>
                            <a:srgbClr val="000000"/>
                          </a:solidFill>
                          <a:latin typeface="Times New Roman"/>
                          <a:cs typeface="Times New Roman"/>
                        </a:rPr>
                        <a:t>, </a:t>
                      </a:r>
                      <a:r>
                        <a:rPr sz="1800" dirty="0" err="1">
                          <a:solidFill>
                            <a:srgbClr val="000000"/>
                          </a:solidFill>
                          <a:latin typeface="Times New Roman"/>
                          <a:cs typeface="Times New Roman"/>
                        </a:rPr>
                        <a:t>Streamlit</a:t>
                      </a:r>
                      <a:r>
                        <a:rPr sz="1800" dirty="0">
                          <a:solidFill>
                            <a:srgbClr val="000000"/>
                          </a:solidFill>
                          <a:latin typeface="Times New Roman"/>
                          <a:cs typeface="Times New Roman"/>
                        </a:rPr>
                        <a:t>, …)</a:t>
                      </a:r>
                    </a:p>
                  </a:txBody>
                  <a:tcPr anchor="ctr">
                    <a:solidFill>
                      <a:srgbClr val="CFCFCF"/>
                    </a:solidFill>
                  </a:tcPr>
                </a:tc>
                <a:tc>
                  <a:txBody>
                    <a:bodyPr/>
                    <a:lstStyle/>
                    <a:p>
                      <a:r>
                        <a:rPr sz="1800">
                          <a:solidFill>
                            <a:srgbClr val="000000"/>
                          </a:solidFill>
                          <a:latin typeface="Times New Roman"/>
                          <a:cs typeface="Times New Roman"/>
                        </a:rPr>
                        <a:t>-</a:t>
                      </a:r>
                    </a:p>
                  </a:txBody>
                  <a:tcPr anchor="ctr">
                    <a:solidFill>
                      <a:srgbClr val="CFCFCF"/>
                    </a:solidFill>
                  </a:tcPr>
                </a:tc>
                <a:tc>
                  <a:txBody>
                    <a:bodyPr/>
                    <a:lstStyle/>
                    <a:p>
                      <a:r>
                        <a:rPr sz="1800">
                          <a:solidFill>
                            <a:srgbClr val="000000"/>
                          </a:solidFill>
                          <a:latin typeface="Times New Roman"/>
                          <a:cs typeface="Times New Roman"/>
                        </a:rPr>
                        <a:t>Free</a:t>
                      </a:r>
                    </a:p>
                  </a:txBody>
                  <a:tcPr anchor="ctr">
                    <a:solidFill>
                      <a:srgbClr val="CFCFCF"/>
                    </a:solidFill>
                  </a:tcPr>
                </a:tc>
                <a:extLst>
                  <a:ext uri="{0D108BD9-81ED-4DB2-BD59-A6C34878D82A}">
                    <a16:rowId xmlns:a16="http://schemas.microsoft.com/office/drawing/2014/main" val="10003"/>
                  </a:ext>
                </a:extLst>
              </a:tr>
              <a:tr h="731520">
                <a:tc>
                  <a:txBody>
                    <a:bodyPr/>
                    <a:lstStyle/>
                    <a:p>
                      <a:r>
                        <a:rPr sz="1800">
                          <a:solidFill>
                            <a:srgbClr val="000000"/>
                          </a:solidFill>
                          <a:latin typeface="Times New Roman"/>
                          <a:cs typeface="Times New Roman"/>
                        </a:rPr>
                        <a:t>Compute / hardware</a:t>
                      </a:r>
                    </a:p>
                  </a:txBody>
                  <a:tcPr anchor="ctr">
                    <a:solidFill>
                      <a:srgbClr val="E9E9E9"/>
                    </a:solidFill>
                  </a:tcPr>
                </a:tc>
                <a:tc>
                  <a:txBody>
                    <a:bodyPr/>
                    <a:lstStyle/>
                    <a:p>
                      <a:pPr>
                        <a:buNone/>
                      </a:pPr>
                      <a:r>
                        <a:rPr lang="en-US" i="0" dirty="0">
                          <a:latin typeface="Times New Roman" panose="02020603050405020304" pitchFamily="18" charset="0"/>
                          <a:cs typeface="Times New Roman" panose="02020603050405020304" pitchFamily="18" charset="0"/>
                        </a:rPr>
                        <a:t>Existing student laptop or university computer; CPU-based processing</a:t>
                      </a:r>
                    </a:p>
                  </a:txBody>
                  <a:tcPr anchor="ctr">
                    <a:solidFill>
                      <a:srgbClr val="E9E9E9"/>
                    </a:solidFill>
                  </a:tcPr>
                </a:tc>
                <a:tc>
                  <a:txBody>
                    <a:bodyPr/>
                    <a:lstStyle/>
                    <a:p>
                      <a:r>
                        <a:rPr lang="en-US" sz="1800" b="0" i="0" dirty="0">
                          <a:solidFill>
                            <a:srgbClr val="000000"/>
                          </a:solidFill>
                          <a:latin typeface="Times New Roman"/>
                          <a:cs typeface="Times New Roman"/>
                        </a:rPr>
                        <a:t>1</a:t>
                      </a:r>
                      <a:endParaRPr sz="1800" b="0" i="0" dirty="0">
                        <a:solidFill>
                          <a:srgbClr val="000000"/>
                        </a:solidFill>
                        <a:latin typeface="Times New Roman"/>
                        <a:cs typeface="Times New Roman"/>
                      </a:endParaRPr>
                    </a:p>
                  </a:txBody>
                  <a:tcPr anchor="ctr">
                    <a:solidFill>
                      <a:srgbClr val="E9E9E9"/>
                    </a:solidFill>
                  </a:tcPr>
                </a:tc>
                <a:tc>
                  <a:txBody>
                    <a:bodyPr/>
                    <a:lstStyle/>
                    <a:p>
                      <a:r>
                        <a:rPr lang="en-US" sz="1800" b="0" i="0" dirty="0">
                          <a:solidFill>
                            <a:srgbClr val="000000"/>
                          </a:solidFill>
                          <a:latin typeface="Times New Roman"/>
                          <a:cs typeface="Times New Roman"/>
                        </a:rPr>
                        <a:t>Free</a:t>
                      </a:r>
                      <a:endParaRPr sz="1800" b="0" i="0" dirty="0">
                        <a:solidFill>
                          <a:srgbClr val="000000"/>
                        </a:solidFill>
                        <a:latin typeface="Times New Roman"/>
                        <a:cs typeface="Times New Roman"/>
                      </a:endParaRPr>
                    </a:p>
                  </a:txBody>
                  <a:tcPr anchor="ctr">
                    <a:solidFill>
                      <a:srgbClr val="E9E9E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Deggendorf Institute of Technology in ...">
            <a:extLst>
              <a:ext uri="{FF2B5EF4-FFF2-40B4-BE49-F238E27FC236}">
                <a16:creationId xmlns:a16="http://schemas.microsoft.com/office/drawing/2014/main" id="{CFA7B7AE-D8DF-727B-8AEF-247E1F4E68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993" b="23415"/>
          <a:stretch/>
        </p:blipFill>
        <p:spPr bwMode="auto">
          <a:xfrm>
            <a:off x="8813800" y="18255"/>
            <a:ext cx="3378200" cy="13255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320040"/>
            <a:ext cx="7589520" cy="914400"/>
          </a:xfrm>
        </p:spPr>
        <p:txBody>
          <a:bodyPr/>
          <a:lstStyle/>
          <a:p>
            <a:pPr algn="l"/>
            <a:r>
              <a:rPr sz="3600" b="1">
                <a:latin typeface="Times New Roman"/>
                <a:cs typeface="Times New Roman"/>
              </a:rPr>
              <a:t>Expected Outcomes:</a:t>
            </a:r>
          </a:p>
        </p:txBody>
      </p:sp>
      <p:sp>
        <p:nvSpPr>
          <p:cNvPr id="3" name="Content Placeholder 2"/>
          <p:cNvSpPr>
            <a:spLocks noGrp="1"/>
          </p:cNvSpPr>
          <p:nvPr>
            <p:ph idx="1"/>
          </p:nvPr>
        </p:nvSpPr>
        <p:spPr>
          <a:xfrm>
            <a:off x="640080" y="1463040"/>
            <a:ext cx="10058400" cy="4480560"/>
          </a:xfrm>
        </p:spPr>
        <p:txBody>
          <a:bodyPr wrap="square"/>
          <a:lstStyle/>
          <a:p>
            <a:pPr>
              <a:spcAft>
                <a:spcPts val="1200"/>
              </a:spcAft>
            </a:pPr>
            <a:r>
              <a:rPr sz="2200">
                <a:latin typeface="Times New Roman"/>
                <a:cs typeface="Times New Roman"/>
              </a:rPr>
              <a:t>Scalable PySpark pipeline producing failure-relevant sensor features</a:t>
            </a:r>
          </a:p>
          <a:p>
            <a:pPr>
              <a:spcAft>
                <a:spcPts val="1200"/>
              </a:spcAft>
            </a:pPr>
            <a:r>
              <a:rPr sz="2200">
                <a:latin typeface="Times New Roman"/>
                <a:cs typeface="Times New Roman"/>
              </a:rPr>
              <a:t>NLP classifier for maintenance logs with reported accuracy and F1</a:t>
            </a:r>
          </a:p>
          <a:p>
            <a:pPr>
              <a:spcAft>
                <a:spcPts val="1200"/>
              </a:spcAft>
            </a:pPr>
            <a:r>
              <a:rPr sz="2200">
                <a:latin typeface="Times New Roman"/>
                <a:cs typeface="Times New Roman"/>
              </a:rPr>
              <a:t>Fused model predicting failures in the next 24 hours</a:t>
            </a:r>
          </a:p>
          <a:p>
            <a:pPr>
              <a:spcAft>
                <a:spcPts val="1200"/>
              </a:spcAft>
            </a:pPr>
            <a:r>
              <a:rPr sz="2200">
                <a:latin typeface="Times New Roman"/>
                <a:cs typeface="Times New Roman"/>
              </a:rPr>
              <a:t>Clear comparison of fused vs sensor-only model on recall, precision and F1</a:t>
            </a:r>
          </a:p>
          <a:p>
            <a:pPr>
              <a:spcAft>
                <a:spcPts val="1200"/>
              </a:spcAft>
            </a:pPr>
            <a:r>
              <a:rPr sz="2200">
                <a:latin typeface="Times New Roman"/>
                <a:cs typeface="Times New Roman"/>
              </a:rPr>
              <a:t>Reproducible GitHub repo and Streamlit demo</a:t>
            </a:r>
          </a:p>
        </p:txBody>
      </p:sp>
      <p:sp>
        <p:nvSpPr>
          <p:cNvPr id="4" name="Slide Number Placeholder 3">
            <a:extLst>
              <a:ext uri="{FF2B5EF4-FFF2-40B4-BE49-F238E27FC236}">
                <a16:creationId xmlns:a16="http://schemas.microsoft.com/office/drawing/2014/main" id="{E775A794-92EA-4993-4A62-E6A5DBC7CE5F}"/>
              </a:ext>
            </a:extLst>
          </p:cNvPr>
          <p:cNvSpPr>
            <a:spLocks noGrp="1"/>
          </p:cNvSpPr>
          <p:nvPr>
            <p:ph type="sldNum" sz="quarter" idx="12"/>
          </p:nvPr>
        </p:nvSpPr>
        <p:spPr/>
        <p:txBody>
          <a:bodyPr/>
          <a:lstStyle/>
          <a:p>
            <a:fld id="{0FABFBA2-1CB6-1F4E-9BB3-885A90BDAFD4}" type="slidenum">
              <a:rPr lang="en-DE" smtClean="0"/>
              <a:t>13</a:t>
            </a:fld>
            <a:endParaRPr lang="en-US"/>
          </a:p>
        </p:txBody>
      </p:sp>
      <p:sp>
        <p:nvSpPr>
          <p:cNvPr id="5" name="Date Placeholder 4"/>
          <p:cNvSpPr>
            <a:spLocks noGrp="1"/>
          </p:cNvSpPr>
          <p:nvPr>
            <p:ph type="dt" sz="half" idx="10"/>
          </p:nvPr>
        </p:nvSpPr>
        <p:spPr/>
        <p:txBody>
          <a:bodyPr/>
          <a:lstStyle/>
          <a:p>
            <a:fld id="{2730DB47-BD66-40D3-AC58-64796F8ACBAF}" type="datetime1">
              <a:rPr lang="en-US"/>
              <a:pPr/>
              <a:t>10/20/2026</a:t>
            </a:fld>
            <a:endParaRPr lang="en-US" dirty="0"/>
          </a:p>
        </p:txBody>
      </p:sp>
      <p:sp>
        <p:nvSpPr>
          <p:cNvPr id="6" name="Footer Placeholder 5"/>
          <p:cNvSpPr>
            <a:spLocks noGrp="1"/>
          </p:cNvSpPr>
          <p:nvPr>
            <p:ph type="ftr" sz="quarter" idx="11"/>
          </p:nvPr>
        </p:nvSpPr>
        <p:spPr/>
        <p:txBody>
          <a:bodyPr/>
          <a:lstStyle/>
          <a:p>
            <a:r>
              <a:rPr lang="en-US"/>
              <a:t>Sensor–Text Fusion for Predictive Maintenance</a:t>
            </a:r>
            <a:endParaRPr lang="en-D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Deggendorf Institute of Technology in ...">
            <a:extLst>
              <a:ext uri="{FF2B5EF4-FFF2-40B4-BE49-F238E27FC236}">
                <a16:creationId xmlns:a16="http://schemas.microsoft.com/office/drawing/2014/main" id="{CFA7B7AE-D8DF-727B-8AEF-247E1F4E68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993" b="23415"/>
          <a:stretch/>
        </p:blipFill>
        <p:spPr bwMode="auto">
          <a:xfrm>
            <a:off x="8813800" y="18255"/>
            <a:ext cx="3378200" cy="13255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320040"/>
            <a:ext cx="7589520" cy="914400"/>
          </a:xfrm>
        </p:spPr>
        <p:txBody>
          <a:bodyPr/>
          <a:lstStyle/>
          <a:p>
            <a:pPr algn="l"/>
            <a:r>
              <a:rPr sz="3600" b="1">
                <a:latin typeface="Times New Roman"/>
                <a:cs typeface="Times New Roman"/>
              </a:rPr>
              <a:t>Safety &amp; Ethical Checklist:</a:t>
            </a:r>
          </a:p>
        </p:txBody>
      </p:sp>
      <p:sp>
        <p:nvSpPr>
          <p:cNvPr id="3" name="Content Placeholder 2"/>
          <p:cNvSpPr>
            <a:spLocks noGrp="1"/>
          </p:cNvSpPr>
          <p:nvPr>
            <p:ph idx="1"/>
          </p:nvPr>
        </p:nvSpPr>
        <p:spPr>
          <a:xfrm>
            <a:off x="640080" y="1463040"/>
            <a:ext cx="10058400" cy="4480560"/>
          </a:xfrm>
        </p:spPr>
        <p:txBody>
          <a:bodyPr wrap="square"/>
          <a:lstStyle/>
          <a:p>
            <a:pPr>
              <a:spcAft>
                <a:spcPts val="1200"/>
              </a:spcAft>
            </a:pPr>
            <a:r>
              <a:rPr sz="2200" dirty="0">
                <a:latin typeface="Times New Roman"/>
                <a:cs typeface="Times New Roman"/>
              </a:rPr>
              <a:t>Software-only project; no physical machinery risk</a:t>
            </a:r>
          </a:p>
          <a:p>
            <a:pPr>
              <a:spcAft>
                <a:spcPts val="1200"/>
              </a:spcAft>
            </a:pPr>
            <a:r>
              <a:rPr sz="2200" dirty="0">
                <a:latin typeface="Times New Roman"/>
                <a:cs typeface="Times New Roman"/>
              </a:rPr>
              <a:t>Public datasets only (Kaggle); no data collection from people</a:t>
            </a:r>
          </a:p>
          <a:p>
            <a:pPr>
              <a:spcAft>
                <a:spcPts val="1200"/>
              </a:spcAft>
            </a:pPr>
            <a:r>
              <a:rPr sz="2200" dirty="0">
                <a:latin typeface="Times New Roman"/>
                <a:cs typeface="Times New Roman"/>
              </a:rPr>
              <a:t>Semi-synthetic text logs and simulated sensor data are disclosed openly as limitations</a:t>
            </a:r>
          </a:p>
          <a:p>
            <a:pPr>
              <a:spcAft>
                <a:spcPts val="1200"/>
              </a:spcAft>
            </a:pPr>
            <a:r>
              <a:rPr sz="2200" dirty="0">
                <a:latin typeface="Times New Roman"/>
                <a:cs typeface="Times New Roman"/>
              </a:rPr>
              <a:t>Reproducibility ensured through a public GitHub repo</a:t>
            </a:r>
            <a:r>
              <a:rPr lang="en-US" sz="2200" dirty="0">
                <a:latin typeface="Times New Roman"/>
                <a:cs typeface="Times New Roman"/>
              </a:rPr>
              <a:t>sitory.</a:t>
            </a:r>
          </a:p>
          <a:p>
            <a:pPr>
              <a:spcAft>
                <a:spcPts val="1200"/>
              </a:spcAft>
            </a:pPr>
            <a:r>
              <a:rPr lang="en-US" sz="2200" dirty="0">
                <a:latin typeface="Times New Roman" panose="02020603050405020304" pitchFamily="18" charset="0"/>
                <a:cs typeface="Times New Roman" panose="02020603050405020304" pitchFamily="18" charset="0"/>
              </a:rPr>
              <a:t>Data leakage, class imbalance and potential model bias are considered during evaluation.</a:t>
            </a:r>
          </a:p>
          <a:p>
            <a:pPr>
              <a:spcAft>
                <a:spcPts val="1200"/>
              </a:spcAft>
            </a:pPr>
            <a:r>
              <a:rPr lang="en-US" sz="2200" dirty="0">
                <a:latin typeface="Times New Roman" panose="02020603050405020304" pitchFamily="18" charset="0"/>
                <a:cs typeface="Times New Roman" panose="02020603050405020304" pitchFamily="18" charset="0"/>
              </a:rPr>
              <a:t>Results and limitations are reported transparently and reproducibly.</a:t>
            </a:r>
          </a:p>
          <a:p>
            <a:pPr>
              <a:spcAft>
                <a:spcPts val="1200"/>
              </a:spcAft>
            </a:pPr>
            <a:endParaRPr lang="en-US" sz="2200" dirty="0">
              <a:latin typeface="Times New Roman" panose="02020603050405020304" pitchFamily="18" charset="0"/>
              <a:cs typeface="Times New Roman" panose="02020603050405020304" pitchFamily="18" charset="0"/>
            </a:endParaRPr>
          </a:p>
          <a:p>
            <a:pPr>
              <a:spcAft>
                <a:spcPts val="1200"/>
              </a:spcAft>
            </a:pPr>
            <a:endParaRPr sz="2200" dirty="0">
              <a:latin typeface="Times New Roman"/>
              <a:cs typeface="Times New Roman"/>
            </a:endParaRPr>
          </a:p>
        </p:txBody>
      </p:sp>
      <p:sp>
        <p:nvSpPr>
          <p:cNvPr id="4" name="Slide Number Placeholder 3">
            <a:extLst>
              <a:ext uri="{FF2B5EF4-FFF2-40B4-BE49-F238E27FC236}">
                <a16:creationId xmlns:a16="http://schemas.microsoft.com/office/drawing/2014/main" id="{E775A794-92EA-4993-4A62-E6A5DBC7CE5F}"/>
              </a:ext>
            </a:extLst>
          </p:cNvPr>
          <p:cNvSpPr>
            <a:spLocks noGrp="1"/>
          </p:cNvSpPr>
          <p:nvPr>
            <p:ph type="sldNum" sz="quarter" idx="12"/>
          </p:nvPr>
        </p:nvSpPr>
        <p:spPr/>
        <p:txBody>
          <a:bodyPr/>
          <a:lstStyle/>
          <a:p>
            <a:fld id="{0FABFBA2-1CB6-1F4E-9BB3-885A90BDAFD4}" type="slidenum">
              <a:rPr lang="en-DE" smtClean="0"/>
              <a:t>14</a:t>
            </a:fld>
            <a:endParaRPr lang="en-US"/>
          </a:p>
        </p:txBody>
      </p:sp>
      <p:sp>
        <p:nvSpPr>
          <p:cNvPr id="5" name="Date Placeholder 4"/>
          <p:cNvSpPr>
            <a:spLocks noGrp="1"/>
          </p:cNvSpPr>
          <p:nvPr>
            <p:ph type="dt" sz="half" idx="10"/>
          </p:nvPr>
        </p:nvSpPr>
        <p:spPr/>
        <p:txBody>
          <a:bodyPr/>
          <a:lstStyle/>
          <a:p>
            <a:fld id="{2730DB47-BD66-40D3-AC58-64796F8ACBAF}" type="datetime1">
              <a:rPr lang="en-US"/>
              <a:pPr/>
              <a:t>10/20/2026</a:t>
            </a:fld>
            <a:endParaRPr lang="en-US" dirty="0"/>
          </a:p>
        </p:txBody>
      </p:sp>
      <p:sp>
        <p:nvSpPr>
          <p:cNvPr id="6" name="Footer Placeholder 5"/>
          <p:cNvSpPr>
            <a:spLocks noGrp="1"/>
          </p:cNvSpPr>
          <p:nvPr>
            <p:ph type="ftr" sz="quarter" idx="11"/>
          </p:nvPr>
        </p:nvSpPr>
        <p:spPr/>
        <p:txBody>
          <a:bodyPr/>
          <a:lstStyle/>
          <a:p>
            <a:r>
              <a:rPr lang="en-US"/>
              <a:t>Sensor–Text Fusion for Predictive Maintenance</a:t>
            </a:r>
            <a:endParaRPr lang="en-D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Deggendorf Institute of Technology in ...">
            <a:extLst>
              <a:ext uri="{FF2B5EF4-FFF2-40B4-BE49-F238E27FC236}">
                <a16:creationId xmlns:a16="http://schemas.microsoft.com/office/drawing/2014/main" id="{CFA7B7AE-D8DF-727B-8AEF-247E1F4E68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993" b="23415"/>
          <a:stretch/>
        </p:blipFill>
        <p:spPr bwMode="auto">
          <a:xfrm>
            <a:off x="8813800" y="18255"/>
            <a:ext cx="3378200" cy="13255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320040"/>
            <a:ext cx="7589520" cy="914400"/>
          </a:xfrm>
        </p:spPr>
        <p:txBody>
          <a:bodyPr/>
          <a:lstStyle/>
          <a:p>
            <a:pPr algn="l"/>
            <a:r>
              <a:rPr sz="3600" b="1" dirty="0">
                <a:latin typeface="Times New Roman"/>
                <a:cs typeface="Times New Roman"/>
              </a:rPr>
              <a:t>Future Work:</a:t>
            </a:r>
          </a:p>
        </p:txBody>
      </p:sp>
      <p:sp>
        <p:nvSpPr>
          <p:cNvPr id="3" name="Content Placeholder 2"/>
          <p:cNvSpPr>
            <a:spLocks noGrp="1"/>
          </p:cNvSpPr>
          <p:nvPr>
            <p:ph idx="1"/>
          </p:nvPr>
        </p:nvSpPr>
        <p:spPr>
          <a:xfrm>
            <a:off x="640080" y="1463040"/>
            <a:ext cx="10058400" cy="4480560"/>
          </a:xfrm>
        </p:spPr>
        <p:txBody>
          <a:bodyPr wrap="square"/>
          <a:lstStyle/>
          <a:p>
            <a:pPr lvl="0"/>
            <a:r>
              <a:rPr lang="en-US" sz="2100" b="1" dirty="0">
                <a:latin typeface="Times New Roman" panose="02020603050405020304" pitchFamily="18" charset="0"/>
                <a:cs typeface="Times New Roman" panose="02020603050405020304" pitchFamily="18" charset="0"/>
              </a:rPr>
              <a:t>Real-world validation:</a:t>
            </a:r>
            <a:r>
              <a:rPr lang="en-US" sz="2100" dirty="0">
                <a:latin typeface="Times New Roman" panose="02020603050405020304" pitchFamily="18" charset="0"/>
                <a:cs typeface="Times New Roman" panose="02020603050405020304" pitchFamily="18" charset="0"/>
              </a:rPr>
              <a:t> Evaluate the fused model using synchronized sensor telemetry and maintenance logs from the same industrial machines.</a:t>
            </a:r>
          </a:p>
          <a:p>
            <a:pPr lvl="0"/>
            <a:r>
              <a:rPr lang="en-US" sz="2100" b="1" dirty="0">
                <a:latin typeface="Times New Roman" panose="02020603050405020304" pitchFamily="18" charset="0"/>
                <a:cs typeface="Times New Roman" panose="02020603050405020304" pitchFamily="18" charset="0"/>
              </a:rPr>
              <a:t>Real-time monitoring:</a:t>
            </a:r>
            <a:r>
              <a:rPr lang="en-US" sz="2100" dirty="0">
                <a:latin typeface="Times New Roman" panose="02020603050405020304" pitchFamily="18" charset="0"/>
                <a:cs typeface="Times New Roman" panose="02020603050405020304" pitchFamily="18" charset="0"/>
              </a:rPr>
              <a:t> Integrate streaming sensor data using technologies such as Apache Kafka and Spark Structured Streaming.</a:t>
            </a:r>
          </a:p>
          <a:p>
            <a:pPr lvl="0"/>
            <a:r>
              <a:rPr lang="en-US" sz="2100" b="1" dirty="0">
                <a:latin typeface="Times New Roman" panose="02020603050405020304" pitchFamily="18" charset="0"/>
                <a:cs typeface="Times New Roman" panose="02020603050405020304" pitchFamily="18" charset="0"/>
              </a:rPr>
              <a:t>Advanced fusion:</a:t>
            </a:r>
            <a:r>
              <a:rPr lang="en-US" sz="2100" dirty="0">
                <a:latin typeface="Times New Roman" panose="02020603050405020304" pitchFamily="18" charset="0"/>
                <a:cs typeface="Times New Roman" panose="02020603050405020304" pitchFamily="18" charset="0"/>
              </a:rPr>
              <a:t> Investigate transformer-based text embeddings and more sophisticated multimodal fusion techniques.</a:t>
            </a:r>
          </a:p>
          <a:p>
            <a:pPr lvl="0"/>
            <a:r>
              <a:rPr lang="en-US" sz="2100" b="1" dirty="0">
                <a:latin typeface="Times New Roman" panose="02020603050405020304" pitchFamily="18" charset="0"/>
                <a:cs typeface="Times New Roman" panose="02020603050405020304" pitchFamily="18" charset="0"/>
              </a:rPr>
              <a:t>Explainable predictions:</a:t>
            </a:r>
            <a:r>
              <a:rPr lang="en-US" sz="2100" dirty="0">
                <a:latin typeface="Times New Roman" panose="02020603050405020304" pitchFamily="18" charset="0"/>
                <a:cs typeface="Times New Roman" panose="02020603050405020304" pitchFamily="18" charset="0"/>
              </a:rPr>
              <a:t> Use SHAP or similar methods to identify which sensor signals and text features influence each prediction.</a:t>
            </a:r>
          </a:p>
          <a:p>
            <a:pPr>
              <a:spcAft>
                <a:spcPts val="1200"/>
              </a:spcAft>
            </a:pPr>
            <a:r>
              <a:rPr lang="en-US" sz="2100" b="1" dirty="0">
                <a:latin typeface="Times New Roman" panose="02020603050405020304" pitchFamily="18" charset="0"/>
                <a:cs typeface="Times New Roman" panose="02020603050405020304" pitchFamily="18" charset="0"/>
              </a:rPr>
              <a:t>Deployment and scalability:</a:t>
            </a:r>
            <a:r>
              <a:rPr lang="en-US" sz="2100" dirty="0">
                <a:latin typeface="Times New Roman" panose="02020603050405020304" pitchFamily="18" charset="0"/>
                <a:cs typeface="Times New Roman" panose="02020603050405020304" pitchFamily="18" charset="0"/>
              </a:rPr>
              <a:t> Extend the </a:t>
            </a:r>
            <a:r>
              <a:rPr lang="en-US" sz="2100" dirty="0" err="1">
                <a:latin typeface="Times New Roman" panose="02020603050405020304" pitchFamily="18" charset="0"/>
                <a:cs typeface="Times New Roman" panose="02020603050405020304" pitchFamily="18" charset="0"/>
              </a:rPr>
              <a:t>Streamlit</a:t>
            </a:r>
            <a:r>
              <a:rPr lang="en-US" sz="2100" dirty="0">
                <a:latin typeface="Times New Roman" panose="02020603050405020304" pitchFamily="18" charset="0"/>
                <a:cs typeface="Times New Roman" panose="02020603050405020304" pitchFamily="18" charset="0"/>
              </a:rPr>
              <a:t> proof of concept into a continuously monitored maintenance decision-support system.</a:t>
            </a:r>
          </a:p>
          <a:p>
            <a:pPr>
              <a:spcAft>
                <a:spcPts val="1200"/>
              </a:spcAft>
            </a:pPr>
            <a:endParaRPr sz="2200" i="1" dirty="0">
              <a:latin typeface="Times New Roman"/>
              <a:cs typeface="Times New Roman"/>
            </a:endParaRPr>
          </a:p>
        </p:txBody>
      </p:sp>
      <p:sp>
        <p:nvSpPr>
          <p:cNvPr id="4" name="Slide Number Placeholder 3">
            <a:extLst>
              <a:ext uri="{FF2B5EF4-FFF2-40B4-BE49-F238E27FC236}">
                <a16:creationId xmlns:a16="http://schemas.microsoft.com/office/drawing/2014/main" id="{E775A794-92EA-4993-4A62-E6A5DBC7CE5F}"/>
              </a:ext>
            </a:extLst>
          </p:cNvPr>
          <p:cNvSpPr>
            <a:spLocks noGrp="1"/>
          </p:cNvSpPr>
          <p:nvPr>
            <p:ph type="sldNum" sz="quarter" idx="12"/>
          </p:nvPr>
        </p:nvSpPr>
        <p:spPr/>
        <p:txBody>
          <a:bodyPr/>
          <a:lstStyle/>
          <a:p>
            <a:fld id="{0FABFBA2-1CB6-1F4E-9BB3-885A90BDAFD4}" type="slidenum">
              <a:rPr lang="en-DE" smtClean="0"/>
              <a:t>15</a:t>
            </a:fld>
            <a:endParaRPr lang="en-US"/>
          </a:p>
        </p:txBody>
      </p:sp>
      <p:sp>
        <p:nvSpPr>
          <p:cNvPr id="5" name="Date Placeholder 4"/>
          <p:cNvSpPr>
            <a:spLocks noGrp="1"/>
          </p:cNvSpPr>
          <p:nvPr>
            <p:ph type="dt" sz="half" idx="10"/>
          </p:nvPr>
        </p:nvSpPr>
        <p:spPr/>
        <p:txBody>
          <a:bodyPr/>
          <a:lstStyle/>
          <a:p>
            <a:fld id="{2730DB47-BD66-40D3-AC58-64796F8ACBAF}" type="datetime1">
              <a:rPr lang="en-US"/>
              <a:pPr/>
              <a:t>10/20/2026</a:t>
            </a:fld>
            <a:endParaRPr lang="en-US" dirty="0"/>
          </a:p>
        </p:txBody>
      </p:sp>
      <p:sp>
        <p:nvSpPr>
          <p:cNvPr id="6" name="Footer Placeholder 5"/>
          <p:cNvSpPr>
            <a:spLocks noGrp="1"/>
          </p:cNvSpPr>
          <p:nvPr>
            <p:ph type="ftr" sz="quarter" idx="11"/>
          </p:nvPr>
        </p:nvSpPr>
        <p:spPr/>
        <p:txBody>
          <a:bodyPr/>
          <a:lstStyle/>
          <a:p>
            <a:r>
              <a:rPr lang="en-US"/>
              <a:t>Sensor–Text Fusion for Predictive Maintenance</a:t>
            </a:r>
            <a:endParaRPr lang="en-D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Deggendorf Institute of Technology in ...">
            <a:extLst>
              <a:ext uri="{FF2B5EF4-FFF2-40B4-BE49-F238E27FC236}">
                <a16:creationId xmlns:a16="http://schemas.microsoft.com/office/drawing/2014/main" id="{CFA7B7AE-D8DF-727B-8AEF-247E1F4E68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993" b="23415"/>
          <a:stretch/>
        </p:blipFill>
        <p:spPr bwMode="auto">
          <a:xfrm>
            <a:off x="8813800" y="18255"/>
            <a:ext cx="3378200" cy="13255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320040"/>
            <a:ext cx="7589520" cy="914400"/>
          </a:xfrm>
        </p:spPr>
        <p:txBody>
          <a:bodyPr/>
          <a:lstStyle/>
          <a:p>
            <a:pPr algn="l"/>
            <a:r>
              <a:rPr sz="3600" b="1">
                <a:latin typeface="Times New Roman"/>
                <a:cs typeface="Times New Roman"/>
              </a:rPr>
              <a:t>Milestones:</a:t>
            </a:r>
          </a:p>
        </p:txBody>
      </p:sp>
      <p:sp>
        <p:nvSpPr>
          <p:cNvPr id="4" name="Slide Number Placeholder 3">
            <a:extLst>
              <a:ext uri="{FF2B5EF4-FFF2-40B4-BE49-F238E27FC236}">
                <a16:creationId xmlns:a16="http://schemas.microsoft.com/office/drawing/2014/main" id="{E775A794-92EA-4993-4A62-E6A5DBC7CE5F}"/>
              </a:ext>
            </a:extLst>
          </p:cNvPr>
          <p:cNvSpPr>
            <a:spLocks noGrp="1"/>
          </p:cNvSpPr>
          <p:nvPr>
            <p:ph type="sldNum" sz="quarter" idx="12"/>
          </p:nvPr>
        </p:nvSpPr>
        <p:spPr/>
        <p:txBody>
          <a:bodyPr/>
          <a:lstStyle/>
          <a:p>
            <a:fld id="{0FABFBA2-1CB6-1F4E-9BB3-885A90BDAFD4}" type="slidenum">
              <a:rPr lang="en-DE" smtClean="0"/>
              <a:t>16</a:t>
            </a:fld>
            <a:endParaRPr lang="en-US"/>
          </a:p>
        </p:txBody>
      </p:sp>
      <p:sp>
        <p:nvSpPr>
          <p:cNvPr id="5" name="Date Placeholder 4"/>
          <p:cNvSpPr>
            <a:spLocks noGrp="1"/>
          </p:cNvSpPr>
          <p:nvPr>
            <p:ph type="dt" sz="half" idx="10"/>
          </p:nvPr>
        </p:nvSpPr>
        <p:spPr/>
        <p:txBody>
          <a:bodyPr/>
          <a:lstStyle/>
          <a:p>
            <a:fld id="{2730DB47-BD66-40D3-AC58-64796F8ACBAF}" type="datetime1">
              <a:rPr lang="en-US"/>
              <a:pPr/>
              <a:t>10/20/2026</a:t>
            </a:fld>
            <a:endParaRPr lang="en-US" dirty="0"/>
          </a:p>
        </p:txBody>
      </p:sp>
      <p:sp>
        <p:nvSpPr>
          <p:cNvPr id="6" name="Footer Placeholder 5"/>
          <p:cNvSpPr>
            <a:spLocks noGrp="1"/>
          </p:cNvSpPr>
          <p:nvPr>
            <p:ph type="ftr" sz="quarter" idx="11"/>
          </p:nvPr>
        </p:nvSpPr>
        <p:spPr/>
        <p:txBody>
          <a:bodyPr/>
          <a:lstStyle/>
          <a:p>
            <a:r>
              <a:rPr lang="en-US"/>
              <a:t>Sensor–Text Fusion for Predictive Maintenance</a:t>
            </a:r>
            <a:endParaRPr lang="en-DE"/>
          </a:p>
        </p:txBody>
      </p:sp>
      <p:pic>
        <p:nvPicPr>
          <p:cNvPr id="2055" name="Picture 2054" descr="image2.png"/>
          <p:cNvPicPr>
            <a:picLocks noChangeAspect="1"/>
          </p:cNvPicPr>
          <p:nvPr/>
        </p:nvPicPr>
        <p:blipFill>
          <a:blip r:embed="rId3"/>
          <a:stretch>
            <a:fillRect/>
          </a:stretch>
        </p:blipFill>
        <p:spPr>
          <a:xfrm>
            <a:off x="822960" y="1554480"/>
            <a:ext cx="10515600" cy="3974646"/>
          </a:xfrm>
          <a:prstGeom prst="rect">
            <a:avLst/>
          </a:prstGeom>
        </p:spPr>
      </p:pic>
      <p:sp>
        <p:nvSpPr>
          <p:cNvPr id="2056" name="TextBox 2055"/>
          <p:cNvSpPr txBox="1"/>
          <p:nvPr/>
        </p:nvSpPr>
        <p:spPr>
          <a:xfrm>
            <a:off x="822960" y="5166360"/>
            <a:ext cx="10515600" cy="457200"/>
          </a:xfrm>
          <a:prstGeom prst="rect">
            <a:avLst/>
          </a:prstGeom>
          <a:noFill/>
        </p:spPr>
        <p:txBody>
          <a:bodyPr wrap="square">
            <a:spAutoFit/>
          </a:bodyPr>
          <a:lstStyle/>
          <a:p>
            <a:pPr algn="l">
              <a:spcAft>
                <a:spcPts val="400"/>
              </a:spcAft>
            </a:pPr>
            <a:r>
              <a:rPr sz="1400" b="0" i="1">
                <a:latin typeface="Times New Roman"/>
                <a:cs typeface="Times New Roman"/>
              </a:rPr>
              <a:t>Dates and weights follow the module’s assessment plan. Phase 1 includes a 10-minute presentation per team.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Deggendorf Institute of Technology in ...">
            <a:extLst>
              <a:ext uri="{FF2B5EF4-FFF2-40B4-BE49-F238E27FC236}">
                <a16:creationId xmlns:a16="http://schemas.microsoft.com/office/drawing/2014/main" id="{CFA7B7AE-D8DF-727B-8AEF-247E1F4E68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993" b="23415"/>
          <a:stretch/>
        </p:blipFill>
        <p:spPr bwMode="auto">
          <a:xfrm>
            <a:off x="8813800" y="18255"/>
            <a:ext cx="3378200" cy="13255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320040"/>
            <a:ext cx="7589520" cy="914400"/>
          </a:xfrm>
        </p:spPr>
        <p:txBody>
          <a:bodyPr/>
          <a:lstStyle/>
          <a:p>
            <a:pPr algn="l"/>
            <a:r>
              <a:rPr sz="3600" b="1">
                <a:latin typeface="Times New Roman"/>
                <a:cs typeface="Times New Roman"/>
              </a:rPr>
              <a:t>Bibliography</a:t>
            </a:r>
          </a:p>
        </p:txBody>
      </p:sp>
      <p:sp>
        <p:nvSpPr>
          <p:cNvPr id="3" name="Content Placeholder 2"/>
          <p:cNvSpPr>
            <a:spLocks noGrp="1"/>
          </p:cNvSpPr>
          <p:nvPr>
            <p:ph idx="1"/>
          </p:nvPr>
        </p:nvSpPr>
        <p:spPr>
          <a:xfrm>
            <a:off x="640080" y="1463040"/>
            <a:ext cx="10058400" cy="4480560"/>
          </a:xfrm>
        </p:spPr>
        <p:txBody>
          <a:bodyPr wrap="square"/>
          <a:lstStyle/>
          <a:p>
            <a:pPr>
              <a:spcAft>
                <a:spcPts val="800"/>
              </a:spcAft>
            </a:pPr>
            <a:r>
              <a:rPr sz="1600" dirty="0">
                <a:latin typeface="Times New Roman"/>
                <a:cs typeface="Times New Roman"/>
              </a:rPr>
              <a:t>F. </a:t>
            </a:r>
            <a:r>
              <a:rPr sz="1600" dirty="0" err="1">
                <a:latin typeface="Times New Roman"/>
                <a:cs typeface="Times New Roman"/>
              </a:rPr>
              <a:t>Akhbardeh</a:t>
            </a:r>
            <a:r>
              <a:rPr sz="1600" dirty="0">
                <a:latin typeface="Times New Roman"/>
                <a:cs typeface="Times New Roman"/>
              </a:rPr>
              <a:t>, T. Desell, M. Zampieri, “</a:t>
            </a:r>
            <a:r>
              <a:rPr sz="1600" dirty="0" err="1">
                <a:latin typeface="Times New Roman"/>
                <a:cs typeface="Times New Roman"/>
              </a:rPr>
              <a:t>MaintNet</a:t>
            </a:r>
            <a:r>
              <a:rPr sz="1600" dirty="0">
                <a:latin typeface="Times New Roman"/>
                <a:cs typeface="Times New Roman"/>
              </a:rPr>
              <a:t>: A Collaborative Open-Source Library for Predictive Maintenance Language Resources,” COLING 2020 System Demonstrations. arXiv:2005.12443</a:t>
            </a:r>
          </a:p>
          <a:p>
            <a:pPr>
              <a:spcAft>
                <a:spcPts val="800"/>
              </a:spcAft>
            </a:pPr>
            <a:r>
              <a:rPr sz="1600" dirty="0">
                <a:latin typeface="Times New Roman"/>
                <a:cs typeface="Times New Roman"/>
              </a:rPr>
              <a:t>F. </a:t>
            </a:r>
            <a:r>
              <a:rPr sz="1600" dirty="0" err="1">
                <a:latin typeface="Times New Roman"/>
                <a:cs typeface="Times New Roman"/>
              </a:rPr>
              <a:t>Akhbardeh</a:t>
            </a:r>
            <a:r>
              <a:rPr sz="1600" dirty="0">
                <a:latin typeface="Times New Roman"/>
                <a:cs typeface="Times New Roman"/>
              </a:rPr>
              <a:t>, T. Desell, M. Zampieri, “NLP Tools for Predictive Maintenance Records in </a:t>
            </a:r>
            <a:r>
              <a:rPr sz="1600" dirty="0" err="1">
                <a:latin typeface="Times New Roman"/>
                <a:cs typeface="Times New Roman"/>
              </a:rPr>
              <a:t>MaintNet</a:t>
            </a:r>
            <a:r>
              <a:rPr sz="1600" dirty="0">
                <a:latin typeface="Times New Roman"/>
                <a:cs typeface="Times New Roman"/>
              </a:rPr>
              <a:t>,” AACL-IJCNLP 2020 System Demonstrations.</a:t>
            </a:r>
          </a:p>
          <a:p>
            <a:pPr>
              <a:spcAft>
                <a:spcPts val="800"/>
              </a:spcAft>
            </a:pPr>
            <a:r>
              <a:rPr sz="1600" dirty="0">
                <a:latin typeface="Times New Roman"/>
                <a:cs typeface="Times New Roman"/>
              </a:rPr>
              <a:t>F. </a:t>
            </a:r>
            <a:r>
              <a:rPr sz="1600" dirty="0" err="1">
                <a:latin typeface="Times New Roman"/>
                <a:cs typeface="Times New Roman"/>
              </a:rPr>
              <a:t>Boylu</a:t>
            </a:r>
            <a:r>
              <a:rPr sz="1600" dirty="0">
                <a:latin typeface="Times New Roman"/>
                <a:cs typeface="Times New Roman"/>
              </a:rPr>
              <a:t> Uz, “Predictive Maintenance Modelling Guide,” Microsoft Cortana Intelligence Gallery.</a:t>
            </a:r>
          </a:p>
          <a:p>
            <a:pPr>
              <a:spcAft>
                <a:spcPts val="800"/>
              </a:spcAft>
            </a:pPr>
            <a:r>
              <a:rPr sz="1600" dirty="0">
                <a:latin typeface="Times New Roman"/>
                <a:cs typeface="Times New Roman"/>
              </a:rPr>
              <a:t>Microsoft Azure Predictive Maintenance dataset, Kaggle.</a:t>
            </a:r>
            <a:endParaRPr lang="en-US" sz="1600" dirty="0">
              <a:latin typeface="Times New Roman"/>
              <a:cs typeface="Times New Roman"/>
            </a:endParaRPr>
          </a:p>
          <a:p>
            <a:pPr lvl="0"/>
            <a:r>
              <a:rPr lang="en-US" sz="1600" dirty="0">
                <a:latin typeface="Times New Roman" panose="02020603050405020304" pitchFamily="18" charset="0"/>
                <a:cs typeface="Times New Roman" panose="02020603050405020304" pitchFamily="18" charset="0"/>
              </a:rPr>
              <a:t>Chen, T., &amp; </a:t>
            </a:r>
            <a:r>
              <a:rPr lang="en-US" sz="1600" dirty="0" err="1">
                <a:latin typeface="Times New Roman" panose="02020603050405020304" pitchFamily="18" charset="0"/>
                <a:cs typeface="Times New Roman" panose="02020603050405020304" pitchFamily="18" charset="0"/>
              </a:rPr>
              <a:t>Guestrin</a:t>
            </a:r>
            <a:r>
              <a:rPr lang="en-US" sz="1600" dirty="0">
                <a:latin typeface="Times New Roman" panose="02020603050405020304" pitchFamily="18" charset="0"/>
                <a:cs typeface="Times New Roman" panose="02020603050405020304" pitchFamily="18" charset="0"/>
              </a:rPr>
              <a:t>, C. (2016). “</a:t>
            </a:r>
            <a:r>
              <a:rPr lang="en-US" sz="1600" dirty="0" err="1">
                <a:latin typeface="Times New Roman" panose="02020603050405020304" pitchFamily="18" charset="0"/>
                <a:cs typeface="Times New Roman" panose="02020603050405020304" pitchFamily="18" charset="0"/>
              </a:rPr>
              <a:t>XGBoost</a:t>
            </a:r>
            <a:r>
              <a:rPr lang="en-US" sz="1600" dirty="0">
                <a:latin typeface="Times New Roman" panose="02020603050405020304" pitchFamily="18" charset="0"/>
                <a:cs typeface="Times New Roman" panose="02020603050405020304" pitchFamily="18" charset="0"/>
              </a:rPr>
              <a:t>: A Scalable Tree Boosting System.” </a:t>
            </a:r>
            <a:r>
              <a:rPr lang="en-US" sz="1600" i="1" dirty="0">
                <a:latin typeface="Times New Roman" panose="02020603050405020304" pitchFamily="18" charset="0"/>
                <a:cs typeface="Times New Roman" panose="02020603050405020304" pitchFamily="18" charset="0"/>
              </a:rPr>
              <a:t>Proceedings of the 22nd ACM SIGKDD International Conference on Knowledge Discovery and Data Mining</a:t>
            </a:r>
            <a:r>
              <a:rPr lang="en-US" sz="1600" dirty="0">
                <a:latin typeface="Times New Roman" panose="02020603050405020304" pitchFamily="18" charset="0"/>
                <a:cs typeface="Times New Roman" panose="02020603050405020304" pitchFamily="18" charset="0"/>
              </a:rPr>
              <a:t>, 785–794. </a:t>
            </a:r>
            <a:r>
              <a:rPr lang="en-US" sz="1600" dirty="0">
                <a:latin typeface="Times New Roman" panose="02020603050405020304" pitchFamily="18" charset="0"/>
                <a:cs typeface="Times New Roman" panose="02020603050405020304" pitchFamily="18" charset="0"/>
                <a:hlinkClick r:id="rId3"/>
              </a:rPr>
              <a:t>https://doi.org/10.1145/2939672.2939785</a:t>
            </a:r>
            <a:endParaRPr lang="en-US"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Pedregosa, F., et al. (2011). “Scikit-learn: Machine Learning in Python.” </a:t>
            </a:r>
            <a:r>
              <a:rPr lang="en-US" sz="1600" i="1" dirty="0">
                <a:latin typeface="Times New Roman" panose="02020603050405020304" pitchFamily="18" charset="0"/>
                <a:cs typeface="Times New Roman" panose="02020603050405020304" pitchFamily="18" charset="0"/>
              </a:rPr>
              <a:t>Journal of Machine Learning Research</a:t>
            </a:r>
            <a:r>
              <a:rPr lang="en-US" sz="1600" dirty="0">
                <a:latin typeface="Times New Roman" panose="02020603050405020304" pitchFamily="18" charset="0"/>
                <a:cs typeface="Times New Roman" panose="02020603050405020304" pitchFamily="18" charset="0"/>
              </a:rPr>
              <a:t>, 12, 2825–2830. </a:t>
            </a:r>
            <a:r>
              <a:rPr lang="en-US" sz="1600" dirty="0">
                <a:latin typeface="Times New Roman" panose="02020603050405020304" pitchFamily="18" charset="0"/>
                <a:cs typeface="Times New Roman" panose="02020603050405020304" pitchFamily="18" charset="0"/>
                <a:hlinkClick r:id="rId4"/>
              </a:rPr>
              <a:t>https://www.jmlr.org/papers/v12/pedregosa11a.html</a:t>
            </a:r>
            <a:endParaRPr lang="en-US"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Zaharia, M., et al. (2016). “Apache Spark: A Unified Engine for Big Data Processing.” </a:t>
            </a:r>
            <a:r>
              <a:rPr lang="en-US" sz="1600" i="1" dirty="0">
                <a:latin typeface="Times New Roman" panose="02020603050405020304" pitchFamily="18" charset="0"/>
                <a:cs typeface="Times New Roman" panose="02020603050405020304" pitchFamily="18" charset="0"/>
              </a:rPr>
              <a:t>Communications of the ACM</a:t>
            </a:r>
            <a:r>
              <a:rPr lang="en-US" sz="1600" dirty="0">
                <a:latin typeface="Times New Roman" panose="02020603050405020304" pitchFamily="18" charset="0"/>
                <a:cs typeface="Times New Roman" panose="02020603050405020304" pitchFamily="18" charset="0"/>
              </a:rPr>
              <a:t>, 59(11), 56–65. </a:t>
            </a:r>
            <a:r>
              <a:rPr lang="en-US" sz="1600" dirty="0">
                <a:latin typeface="Times New Roman" panose="02020603050405020304" pitchFamily="18" charset="0"/>
                <a:cs typeface="Times New Roman" panose="02020603050405020304" pitchFamily="18" charset="0"/>
                <a:hlinkClick r:id="rId5"/>
              </a:rPr>
              <a:t>https://doi.org/10.1145/2934664</a:t>
            </a:r>
            <a:endParaRPr lang="en-US" sz="1600" dirty="0">
              <a:latin typeface="Times New Roman" panose="02020603050405020304" pitchFamily="18" charset="0"/>
              <a:cs typeface="Times New Roman" panose="02020603050405020304" pitchFamily="18" charset="0"/>
            </a:endParaRPr>
          </a:p>
          <a:p>
            <a:pPr>
              <a:spcAft>
                <a:spcPts val="800"/>
              </a:spcAft>
            </a:pPr>
            <a:endParaRPr sz="1600" dirty="0">
              <a:latin typeface="Times New Roman"/>
              <a:cs typeface="Times New Roman"/>
            </a:endParaRPr>
          </a:p>
        </p:txBody>
      </p:sp>
      <p:sp>
        <p:nvSpPr>
          <p:cNvPr id="4" name="Slide Number Placeholder 3">
            <a:extLst>
              <a:ext uri="{FF2B5EF4-FFF2-40B4-BE49-F238E27FC236}">
                <a16:creationId xmlns:a16="http://schemas.microsoft.com/office/drawing/2014/main" id="{E775A794-92EA-4993-4A62-E6A5DBC7CE5F}"/>
              </a:ext>
            </a:extLst>
          </p:cNvPr>
          <p:cNvSpPr>
            <a:spLocks noGrp="1"/>
          </p:cNvSpPr>
          <p:nvPr>
            <p:ph type="sldNum" sz="quarter" idx="12"/>
          </p:nvPr>
        </p:nvSpPr>
        <p:spPr/>
        <p:txBody>
          <a:bodyPr/>
          <a:lstStyle/>
          <a:p>
            <a:fld id="{0FABFBA2-1CB6-1F4E-9BB3-885A90BDAFD4}" type="slidenum">
              <a:rPr lang="en-DE" smtClean="0"/>
              <a:t>17</a:t>
            </a:fld>
            <a:endParaRPr lang="en-US"/>
          </a:p>
        </p:txBody>
      </p:sp>
      <p:sp>
        <p:nvSpPr>
          <p:cNvPr id="5" name="Date Placeholder 4"/>
          <p:cNvSpPr>
            <a:spLocks noGrp="1"/>
          </p:cNvSpPr>
          <p:nvPr>
            <p:ph type="dt" sz="half" idx="10"/>
          </p:nvPr>
        </p:nvSpPr>
        <p:spPr/>
        <p:txBody>
          <a:bodyPr/>
          <a:lstStyle/>
          <a:p>
            <a:fld id="{2730DB47-BD66-40D3-AC58-64796F8ACBAF}" type="datetime1">
              <a:rPr lang="en-US"/>
              <a:pPr/>
              <a:t>10/20/2026</a:t>
            </a:fld>
            <a:endParaRPr lang="en-US" dirty="0"/>
          </a:p>
        </p:txBody>
      </p:sp>
      <p:sp>
        <p:nvSpPr>
          <p:cNvPr id="6" name="Footer Placeholder 5"/>
          <p:cNvSpPr>
            <a:spLocks noGrp="1"/>
          </p:cNvSpPr>
          <p:nvPr>
            <p:ph type="ftr" sz="quarter" idx="11"/>
          </p:nvPr>
        </p:nvSpPr>
        <p:spPr/>
        <p:txBody>
          <a:bodyPr/>
          <a:lstStyle/>
          <a:p>
            <a:r>
              <a:rPr lang="en-US"/>
              <a:t>Sensor–Text Fusion for Predictive Maintenance</a:t>
            </a:r>
            <a:endParaRPr lang="en-D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775A794-92EA-4993-4A62-E6A5DBC7CE5F}"/>
              </a:ext>
            </a:extLst>
          </p:cNvPr>
          <p:cNvSpPr>
            <a:spLocks noGrp="1"/>
          </p:cNvSpPr>
          <p:nvPr>
            <p:ph type="sldNum" sz="quarter" idx="12"/>
          </p:nvPr>
        </p:nvSpPr>
        <p:spPr/>
        <p:txBody>
          <a:bodyPr/>
          <a:lstStyle/>
          <a:p>
            <a:fld id="{0FABFBA2-1CB6-1F4E-9BB3-885A90BDAFD4}" type="slidenum">
              <a:rPr lang="en-DE" smtClean="0"/>
              <a:t>18</a:t>
            </a:fld>
            <a:endParaRPr lang="en-US"/>
          </a:p>
        </p:txBody>
      </p:sp>
      <p:sp>
        <p:nvSpPr>
          <p:cNvPr id="5" name="Date Placeholder 4"/>
          <p:cNvSpPr>
            <a:spLocks noGrp="1"/>
          </p:cNvSpPr>
          <p:nvPr>
            <p:ph type="dt" sz="half" idx="10"/>
          </p:nvPr>
        </p:nvSpPr>
        <p:spPr/>
        <p:txBody>
          <a:bodyPr/>
          <a:lstStyle/>
          <a:p>
            <a:fld id="{2730DB47-BD66-40D3-AC58-64796F8ACBAF}" type="datetime1">
              <a:rPr lang="en-US"/>
              <a:pPr/>
              <a:t>10/20/2026</a:t>
            </a:fld>
            <a:endParaRPr lang="en-US" dirty="0"/>
          </a:p>
        </p:txBody>
      </p:sp>
      <p:sp>
        <p:nvSpPr>
          <p:cNvPr id="6" name="Footer Placeholder 5"/>
          <p:cNvSpPr>
            <a:spLocks noGrp="1"/>
          </p:cNvSpPr>
          <p:nvPr>
            <p:ph type="ftr" sz="quarter" idx="11"/>
          </p:nvPr>
        </p:nvSpPr>
        <p:spPr/>
        <p:txBody>
          <a:bodyPr/>
          <a:lstStyle/>
          <a:p>
            <a:r>
              <a:rPr lang="en-US"/>
              <a:t>Sensor–Text Fusion for Predictive Maintenance</a:t>
            </a:r>
            <a:endParaRPr lang="en-DE"/>
          </a:p>
        </p:txBody>
      </p:sp>
      <p:sp>
        <p:nvSpPr>
          <p:cNvPr id="7" name="TextBox 6"/>
          <p:cNvSpPr txBox="1"/>
          <p:nvPr/>
        </p:nvSpPr>
        <p:spPr>
          <a:xfrm>
            <a:off x="3200400" y="2103120"/>
            <a:ext cx="5760720" cy="1097280"/>
          </a:xfrm>
          <a:prstGeom prst="rect">
            <a:avLst/>
          </a:prstGeom>
          <a:noFill/>
        </p:spPr>
        <p:txBody>
          <a:bodyPr wrap="square">
            <a:spAutoFit/>
          </a:bodyPr>
          <a:lstStyle/>
          <a:p>
            <a:pPr algn="ctr">
              <a:spcAft>
                <a:spcPts val="400"/>
              </a:spcAft>
            </a:pPr>
            <a:r>
              <a:rPr sz="4800" b="1">
                <a:latin typeface="Times New Roman"/>
                <a:cs typeface="Times New Roman"/>
              </a:rPr>
              <a:t>Thank You</a:t>
            </a:r>
          </a:p>
        </p:txBody>
      </p:sp>
      <p:sp>
        <p:nvSpPr>
          <p:cNvPr id="8" name="TextBox 7"/>
          <p:cNvSpPr txBox="1"/>
          <p:nvPr/>
        </p:nvSpPr>
        <p:spPr>
          <a:xfrm>
            <a:off x="3248378" y="3829543"/>
            <a:ext cx="5760720" cy="882293"/>
          </a:xfrm>
          <a:prstGeom prst="rect">
            <a:avLst/>
          </a:prstGeom>
          <a:noFill/>
        </p:spPr>
        <p:txBody>
          <a:bodyPr wrap="square">
            <a:spAutoFit/>
          </a:bodyPr>
          <a:lstStyle/>
          <a:p>
            <a:pPr algn="ctr">
              <a:spcAft>
                <a:spcPts val="400"/>
              </a:spcAft>
            </a:pPr>
            <a:r>
              <a:rPr lang="en-US" sz="2800" i="1" u="sng" dirty="0">
                <a:latin typeface="Times New Roman"/>
                <a:cs typeface="Times New Roman"/>
                <a:hlinkClick r:id="rId2"/>
              </a:rPr>
              <a:t>Repository</a:t>
            </a:r>
            <a:endParaRPr lang="en-US" sz="2800" i="1" u="sng" dirty="0">
              <a:latin typeface="Times New Roman"/>
              <a:cs typeface="Times New Roman"/>
            </a:endParaRPr>
          </a:p>
          <a:p>
            <a:pPr algn="ctr">
              <a:spcAft>
                <a:spcPts val="400"/>
              </a:spcAft>
            </a:pPr>
            <a:endParaRPr sz="2000" b="0" i="1" dirty="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1527</TotalTime>
  <Words>1535</Words>
  <Application>Microsoft Office PowerPoint</Application>
  <PresentationFormat>Widescreen</PresentationFormat>
  <Paragraphs>208</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Times New Roman</vt:lpstr>
      <vt:lpstr>Office Theme</vt:lpstr>
      <vt:lpstr>Sensor–Text Fusion for Predictive Maintenance</vt:lpstr>
      <vt:lpstr>Introduction:</vt:lpstr>
      <vt:lpstr>Project Scope:</vt:lpstr>
      <vt:lpstr>Objectives:</vt:lpstr>
      <vt:lpstr>Data Sources:</vt:lpstr>
      <vt:lpstr>Literature Review:</vt:lpstr>
      <vt:lpstr>Technology Stack:</vt:lpstr>
      <vt:lpstr>Project flow chart:</vt:lpstr>
      <vt:lpstr>Working Methodology:</vt:lpstr>
      <vt:lpstr>KPIs and Evaluation:</vt:lpstr>
      <vt:lpstr>Risks and Limitations:</vt:lpstr>
      <vt:lpstr>Bill of Materials (BOM):</vt:lpstr>
      <vt:lpstr>Expected Outcomes:</vt:lpstr>
      <vt:lpstr>Safety &amp; Ethical Checklist:</vt:lpstr>
      <vt:lpstr>Future Work:</vt:lpstr>
      <vt:lpstr>Milestones:</vt:lpstr>
      <vt:lpstr>Bibliography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Integration and  Comparision of Vision models for smart inspection cell</dc:title>
  <dc:creator>yaswitha Pallela</dc:creator>
  <cp:lastModifiedBy>Aman Sudarsi</cp:lastModifiedBy>
  <cp:revision>52</cp:revision>
  <dcterms:created xsi:type="dcterms:W3CDTF">2025-10-13T08:49:29Z</dcterms:created>
  <dcterms:modified xsi:type="dcterms:W3CDTF">2026-10-20T09:36:01Z</dcterms:modified>
</cp:coreProperties>
</file>